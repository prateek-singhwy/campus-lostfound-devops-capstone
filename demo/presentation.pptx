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e823f62-c536-e131-d83a-826fc407295c}">
          <p14:sldIdLst>
            <p14:sldId id="256"/>
            <p14:sldId id="257"/>
          </p14:sldIdLst>
        </p14:section>
        <p14:section name="Architecture" id="{5839812a-06a5-db66-6fce-a6e1c6d7e5a5}">
          <p14:sldIdLst>
            <p14:sldId id="258"/>
          </p14:sldIdLst>
        </p14:section>
        <p14:section name="Build and test" id="{f1bd521d-08ac-85bb-fa48-9a011234d37a}">
          <p14:sldIdLst>
            <p14:sldId id="259"/>
          </p14:sldIdLst>
        </p14:section>
        <p14:section name="CI/CD" id="{19f05bc8-8937-edb6-c17e-f818ac12d721}">
          <p14:sldIdLst>
            <p14:sldId id="260"/>
            <p14:sldId id="261"/>
            <p14:sldId id="262"/>
          </p14:sldIdLst>
        </p14:section>
        <p14:section name="Infrastructure" id="{a167d5fb-267a-8e2f-b12f-7df524e91975}">
          <p14:sldIdLst>
            <p14:sldId id="263"/>
            <p14:sldId id="264"/>
          </p14:sldIdLst>
        </p14:section>
        <p14:section name="Operations" id="{98c82f31-1251-3bf2-1625-e1128b9b1034}">
          <p14:sldIdLst>
            <p14:sldId id="265"/>
            <p14:sldId id="266"/>
          </p14:sldIdLst>
        </p14:section>
        <p14:section name="Wrap-up" id="{41501052-8744-4172-15c0-03ab466208a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Campus Lost and Found, the DevOps final capstone by Prateek Singh, roll number 24 B C S 10082, Scaler School of Technology. The application is deliberately simple, so that every DevOps layer around it can be shown end to end: code, continuous integration, security scanning, a container registry, Helm, Kubernetes on Amazon E K S, and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lets students report items they have lost or found on campus and mark them as returned. It has three tiers. A React front end built with Vite and served by an unprivileged nginx, which also proxies the API. A FastAPI back end in Python 3.12, with Prometheus metrics and Alembic migrations that run on start up. And PostgreSQL 16. The REST API covers create, read, update, patch and delete for items, plus separate liveness and readiness endpoints, and a metrics endpoint.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A git push triggers GitHub Actions. The pipeline lints, tests, builds both images, scans them with Trivy and pushes them to the GitHub Container Registry, tagged with the commit SHA. Continuous delivery then runs helm upgrade install with that exact tag. In the cluster, an nginx ingress sends slash A P I to the backend service and everything else to the front end. The backend runs two to five replicas under a horizontal pod autoscaler and talks to PostgreSQL in a stateful set with a persistent volume. A service monitor lets Prometheus scrape the backend, with Alertmanager and a Grafana dashboard on top. The cluster itself is provisioned with Terraform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Nine pytest tests cover six endpoints. They run against an in-memory fake of the database connection, so no real database is touched. Coverage is 87 percent, and the build fails below 80. For Docker, the backend image runs as a non-root user with a health check, and the front end uses a multi-stage build: node builds the bundle and only the dist folder goes into an unprivileged nginx image. Docker compose wires the three tiers with health-checked start up order and two separate networks, so the front end cannot reach the database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 I workflow runs on every push and pull request to main. Lint runs flake8, hadolint on both Dockerfiles, helm lint and terraform validate. Tests run on Python 3.11, 3.12 and 3.13 with the coverage gate. The front end build checks the React bundle. Then a matrix job builds the backend and front end images, scans each with Trivy, and pushes them to G H C R tagged with the short commit SHA. Finally an integration job starts docker compose from the images it just pushed, and runs the smoke test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scanning is a real gate, not a report. Trivy fails the build on any HIGH or CRITICAL vulnerability that has a fix available. On the first full run it did exactly that. The nginx unprivileged 1.27 alpine base image carried a critical OpenSSL heap buffer overflow, and a high severity use after free in c-ares. The build was blocked and nothing was pushed. The fix was to move to the 1.29 alpine tag and run apk upgrade in the Dockerfile, with the matching apt-get upgrade for the backend. After that, the pipeline went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delivery runs when C I is green on main. It creates a kind cluster, installs the Prometheus operator custom resources, and runs helm upgrade install with the image tag set to sha dash the commit. It then smoke tests through the front end service and prints the helm history. Because every image tag is a commit SHA, every deployment is traceable, and helm rollback always returns to a known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infrastructure is Terraform. It builds a VPC with two public subnets across availability zones, an internet gateway, I A M roles, an E K S 1.31 control plane and a managed node group, plus the E B S C S I driver and metrics server add-ons. It was applied for real in the capstone account in Sydney, with two t3 small worker nodes, and later destroyed: 26 resources. In CI, a separate Terraform workflow runs format, validate, tflint, and a plan, apply and destroy against LocalStack, so the code is exercised on every change without cloud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Helm chart deploys everything: a secret for the database credentials, a config map, a PostgreSQL stateful set with a persistent volume claim, back end and front end deployments with two replicas each, rolling updates with max unavailable zero, startup, readiness and liveness probes, non-root security contexts, cluster IP services, an ingress, a horizontal pod autoscaler at 60 percent CPU, and a service monitor and Prometheus rule. The same chart targets minikube and E K S through values files. On E K S, the app was reachable through an AWS load balancer and the smoke test passed through that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observability, the back end exposes request counts by method, path and status, a latency histogram, a database up gauge and the number of open items. Prometheus discovers both back end pods through the chart's service monitor. Five alerts ship with the chart: high 5 x x ratio, p95 latency over 500 milliseconds, database down, pod restarting and pod not ready. Grafana loads a dashboard showing request rate, latency percentiles, error ratio, database health, CPU against H P A replicas, restarts, memory and open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real incidents came up while building this, and each is written up in the troubleshooting runbook. On AWS, the Free Tier account rejected t3 medium nodes, so the node group moved to t3 small. The E B S C S I controller then crash looped because it could not get credentials; managed nodes need an I M D S v2 hop limit of two, which is now set in a launch template. On the cluster, the back end restarted once on first install because Postgres took longer than the retry budget, so the retries were raised. And Prometheus showed no target until the missing release label was added to the service monitor.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demo flow. Edit something visible and push a commit. C I lints, tests, scans with Trivy and pushes images tagged with that commit. C D deploys that exact tag with Helm and prints the history, and helm rollback returns to any earlier revision. All of the code, evidence, screenshots and the troubleshooting runbook are in the repository on GitHub.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4800600"/>
            <a:ext cx="5943600" cy="228600"/>
          </a:xfrm>
          <a:prstGeom prst="rect">
            <a:avLst/>
          </a:prstGeom>
          <a:noFill/>
          <a:ln/>
        </p:spPr>
        <p:txBody>
          <a:bodyPr wrap="square" lIns="0" tIns="0" rIns="0" bIns="0" rtlCol="0" anchor="ctr"/>
          <a:lstStyle/>
          <a:p>
            <a:pPr indent="0" marL="0">
              <a:buNone/>
            </a:pPr>
            <a:r>
              <a:rPr lang="en-US" sz="1000" dirty="0">
                <a:solidFill>
                  <a:schemeClr val="accent5"/>
                </a:solidFill>
              </a:rPr>
              <a:t>Campus Lost &amp; Found  ·  DevOps Final Capstone  ·  Prateek Singh</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Campus Lost &amp; Found</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algn="l" indent="0" marL="0">
              <a:buNone/>
            </a:pPr>
            <a:r>
              <a:rPr lang="en-US" sz="1800" dirty="0">
                <a:solidFill>
                  <a:schemeClr val="accent6"/>
                </a:solidFill>
              </a:rPr>
              <a:t>DevOps Final Capstone: one small three-tier app, taken from git push to a monitored Kubernetes cluster on AWS</a:t>
            </a:r>
            <a:endParaRPr lang="en-US" sz="1800" dirty="0"/>
          </a:p>
        </p:txBody>
      </p:sp>
      <p:sp>
        <p:nvSpPr>
          <p:cNvPr id="4" name="Shape 2"/>
          <p:cNvSpPr/>
          <p:nvPr/>
        </p:nvSpPr>
        <p:spPr>
          <a:xfrm>
            <a:off x="548640" y="3840480"/>
            <a:ext cx="960120" cy="384048"/>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548640" y="3840480"/>
            <a:ext cx="960120" cy="384048"/>
          </a:xfrm>
          <a:prstGeom prst="rect">
            <a:avLst/>
          </a:prstGeom>
          <a:noFill/>
          <a:ln/>
        </p:spPr>
        <p:txBody>
          <a:bodyPr wrap="square" lIns="0" tIns="0" rIns="0" bIns="0" rtlCol="0" anchor="ctr"/>
          <a:lstStyle/>
          <a:p>
            <a:pPr algn="ctr" indent="0" marL="0">
              <a:buNone/>
            </a:pPr>
            <a:r>
              <a:rPr lang="en-US" sz="1300" b="1" dirty="0">
                <a:solidFill>
                  <a:schemeClr val="bg1"/>
                </a:solidFill>
              </a:rPr>
              <a:t>Code</a:t>
            </a:r>
            <a:endParaRPr lang="en-US" sz="1300" dirty="0"/>
          </a:p>
        </p:txBody>
      </p:sp>
      <p:sp>
        <p:nvSpPr>
          <p:cNvPr id="6" name="Shape 4"/>
          <p:cNvSpPr/>
          <p:nvPr/>
        </p:nvSpPr>
        <p:spPr>
          <a:xfrm>
            <a:off x="1508760" y="4032504"/>
            <a:ext cx="201168" cy="0"/>
          </a:xfrm>
          <a:prstGeom prst="line">
            <a:avLst/>
          </a:prstGeom>
          <a:noFill/>
          <a:ln w="19050">
            <a:solidFill>
              <a:schemeClr val="accent6"/>
            </a:solidFill>
            <a:prstDash val="solid"/>
          </a:ln>
        </p:spPr>
      </p:sp>
      <p:sp>
        <p:nvSpPr>
          <p:cNvPr id="7" name="Shape 5"/>
          <p:cNvSpPr/>
          <p:nvPr/>
        </p:nvSpPr>
        <p:spPr>
          <a:xfrm>
            <a:off x="1709928" y="3840480"/>
            <a:ext cx="960120" cy="384048"/>
          </a:xfrm>
          <a:prstGeom prst="roundRect">
            <a:avLst>
              <a:gd name="adj" fmla="val 50000"/>
            </a:avLst>
          </a:prstGeom>
          <a:solidFill>
            <a:schemeClr val="accent1"/>
          </a:solidFill>
          <a:ln w="12700">
            <a:solidFill>
              <a:schemeClr val="accent1"/>
            </a:solidFill>
            <a:prstDash val="solid"/>
          </a:ln>
        </p:spPr>
      </p:sp>
      <p:sp>
        <p:nvSpPr>
          <p:cNvPr id="8" name="Text 6"/>
          <p:cNvSpPr txBox="1"/>
          <p:nvPr/>
        </p:nvSpPr>
        <p:spPr>
          <a:xfrm>
            <a:off x="1709928" y="3840480"/>
            <a:ext cx="960120" cy="384048"/>
          </a:xfrm>
          <a:prstGeom prst="rect">
            <a:avLst/>
          </a:prstGeom>
          <a:noFill/>
          <a:ln/>
        </p:spPr>
        <p:txBody>
          <a:bodyPr wrap="square" lIns="0" tIns="0" rIns="0" bIns="0" rtlCol="0" anchor="ctr"/>
          <a:lstStyle/>
          <a:p>
            <a:pPr algn="ctr" indent="0" marL="0">
              <a:buNone/>
            </a:pPr>
            <a:r>
              <a:rPr lang="en-US" sz="1300" b="1" dirty="0">
                <a:solidFill>
                  <a:schemeClr val="bg1"/>
                </a:solidFill>
              </a:rPr>
              <a:t>CI</a:t>
            </a:r>
            <a:endParaRPr lang="en-US" sz="1300" dirty="0"/>
          </a:p>
        </p:txBody>
      </p:sp>
      <p:sp>
        <p:nvSpPr>
          <p:cNvPr id="9" name="Shape 7"/>
          <p:cNvSpPr/>
          <p:nvPr/>
        </p:nvSpPr>
        <p:spPr>
          <a:xfrm>
            <a:off x="2670048" y="4032504"/>
            <a:ext cx="201168" cy="0"/>
          </a:xfrm>
          <a:prstGeom prst="line">
            <a:avLst/>
          </a:prstGeom>
          <a:noFill/>
          <a:ln w="19050">
            <a:solidFill>
              <a:schemeClr val="accent6"/>
            </a:solidFill>
            <a:prstDash val="solid"/>
          </a:ln>
        </p:spPr>
      </p:sp>
      <p:sp>
        <p:nvSpPr>
          <p:cNvPr id="10" name="Shape 8"/>
          <p:cNvSpPr/>
          <p:nvPr/>
        </p:nvSpPr>
        <p:spPr>
          <a:xfrm>
            <a:off x="2871216" y="3840480"/>
            <a:ext cx="960120" cy="384048"/>
          </a:xfrm>
          <a:prstGeom prst="roundRect">
            <a:avLst>
              <a:gd name="adj" fmla="val 50000"/>
            </a:avLst>
          </a:prstGeom>
          <a:solidFill>
            <a:schemeClr val="accent2"/>
          </a:solidFill>
          <a:ln w="12700">
            <a:solidFill>
              <a:schemeClr val="accent2"/>
            </a:solidFill>
            <a:prstDash val="solid"/>
          </a:ln>
        </p:spPr>
      </p:sp>
      <p:sp>
        <p:nvSpPr>
          <p:cNvPr id="11" name="Text 9"/>
          <p:cNvSpPr txBox="1"/>
          <p:nvPr/>
        </p:nvSpPr>
        <p:spPr>
          <a:xfrm>
            <a:off x="2871216" y="3840480"/>
            <a:ext cx="960120" cy="384048"/>
          </a:xfrm>
          <a:prstGeom prst="rect">
            <a:avLst/>
          </a:prstGeom>
          <a:noFill/>
          <a:ln/>
        </p:spPr>
        <p:txBody>
          <a:bodyPr wrap="square" lIns="0" tIns="0" rIns="0" bIns="0" rtlCol="0" anchor="ctr"/>
          <a:lstStyle/>
          <a:p>
            <a:pPr algn="ctr" indent="0" marL="0">
              <a:buNone/>
            </a:pPr>
            <a:r>
              <a:rPr lang="en-US" sz="1300" b="1" dirty="0">
                <a:solidFill>
                  <a:schemeClr val="bg1"/>
                </a:solidFill>
              </a:rPr>
              <a:t>Scan</a:t>
            </a:r>
            <a:endParaRPr lang="en-US" sz="1300" dirty="0"/>
          </a:p>
        </p:txBody>
      </p:sp>
      <p:sp>
        <p:nvSpPr>
          <p:cNvPr id="12" name="Shape 10"/>
          <p:cNvSpPr/>
          <p:nvPr/>
        </p:nvSpPr>
        <p:spPr>
          <a:xfrm>
            <a:off x="3831336" y="4032504"/>
            <a:ext cx="201168" cy="0"/>
          </a:xfrm>
          <a:prstGeom prst="line">
            <a:avLst/>
          </a:prstGeom>
          <a:noFill/>
          <a:ln w="19050">
            <a:solidFill>
              <a:schemeClr val="accent6"/>
            </a:solidFill>
            <a:prstDash val="solid"/>
          </a:ln>
        </p:spPr>
      </p:sp>
      <p:sp>
        <p:nvSpPr>
          <p:cNvPr id="13" name="Shape 11"/>
          <p:cNvSpPr/>
          <p:nvPr/>
        </p:nvSpPr>
        <p:spPr>
          <a:xfrm>
            <a:off x="4032504" y="3840480"/>
            <a:ext cx="960120" cy="384048"/>
          </a:xfrm>
          <a:prstGeom prst="roundRect">
            <a:avLst>
              <a:gd name="adj" fmla="val 50000"/>
            </a:avLst>
          </a:prstGeom>
          <a:solidFill>
            <a:schemeClr val="accent1"/>
          </a:solidFill>
          <a:ln w="12700">
            <a:solidFill>
              <a:schemeClr val="accent1"/>
            </a:solidFill>
            <a:prstDash val="solid"/>
          </a:ln>
        </p:spPr>
      </p:sp>
      <p:sp>
        <p:nvSpPr>
          <p:cNvPr id="14" name="Text 12"/>
          <p:cNvSpPr txBox="1"/>
          <p:nvPr/>
        </p:nvSpPr>
        <p:spPr>
          <a:xfrm>
            <a:off x="4032504" y="3840480"/>
            <a:ext cx="960120" cy="384048"/>
          </a:xfrm>
          <a:prstGeom prst="rect">
            <a:avLst/>
          </a:prstGeom>
          <a:noFill/>
          <a:ln/>
        </p:spPr>
        <p:txBody>
          <a:bodyPr wrap="square" lIns="0" tIns="0" rIns="0" bIns="0" rtlCol="0" anchor="ctr"/>
          <a:lstStyle/>
          <a:p>
            <a:pPr algn="ctr" indent="0" marL="0">
              <a:buNone/>
            </a:pPr>
            <a:r>
              <a:rPr lang="en-US" sz="1300" b="1" dirty="0">
                <a:solidFill>
                  <a:schemeClr val="bg1"/>
                </a:solidFill>
              </a:rPr>
              <a:t>GHCR</a:t>
            </a:r>
            <a:endParaRPr lang="en-US" sz="1300" dirty="0"/>
          </a:p>
        </p:txBody>
      </p:sp>
      <p:sp>
        <p:nvSpPr>
          <p:cNvPr id="15" name="Shape 13"/>
          <p:cNvSpPr/>
          <p:nvPr/>
        </p:nvSpPr>
        <p:spPr>
          <a:xfrm>
            <a:off x="4992624" y="4032504"/>
            <a:ext cx="201168" cy="0"/>
          </a:xfrm>
          <a:prstGeom prst="line">
            <a:avLst/>
          </a:prstGeom>
          <a:noFill/>
          <a:ln w="19050">
            <a:solidFill>
              <a:schemeClr val="accent6"/>
            </a:solidFill>
            <a:prstDash val="solid"/>
          </a:ln>
        </p:spPr>
      </p:sp>
      <p:sp>
        <p:nvSpPr>
          <p:cNvPr id="16" name="Shape 14"/>
          <p:cNvSpPr/>
          <p:nvPr/>
        </p:nvSpPr>
        <p:spPr>
          <a:xfrm>
            <a:off x="5193792" y="3840480"/>
            <a:ext cx="960120" cy="384048"/>
          </a:xfrm>
          <a:prstGeom prst="roundRect">
            <a:avLst>
              <a:gd name="adj" fmla="val 50000"/>
            </a:avLst>
          </a:prstGeom>
          <a:solidFill>
            <a:schemeClr val="accent1"/>
          </a:solidFill>
          <a:ln w="12700">
            <a:solidFill>
              <a:schemeClr val="accent1"/>
            </a:solidFill>
            <a:prstDash val="solid"/>
          </a:ln>
        </p:spPr>
      </p:sp>
      <p:sp>
        <p:nvSpPr>
          <p:cNvPr id="17" name="Text 15"/>
          <p:cNvSpPr txBox="1"/>
          <p:nvPr/>
        </p:nvSpPr>
        <p:spPr>
          <a:xfrm>
            <a:off x="5193792" y="3840480"/>
            <a:ext cx="960120" cy="384048"/>
          </a:xfrm>
          <a:prstGeom prst="rect">
            <a:avLst/>
          </a:prstGeom>
          <a:noFill/>
          <a:ln/>
        </p:spPr>
        <p:txBody>
          <a:bodyPr wrap="square" lIns="0" tIns="0" rIns="0" bIns="0" rtlCol="0" anchor="ctr"/>
          <a:lstStyle/>
          <a:p>
            <a:pPr algn="ctr" indent="0" marL="0">
              <a:buNone/>
            </a:pPr>
            <a:r>
              <a:rPr lang="en-US" sz="1300" b="1" dirty="0">
                <a:solidFill>
                  <a:schemeClr val="bg1"/>
                </a:solidFill>
              </a:rPr>
              <a:t>Helm</a:t>
            </a:r>
            <a:endParaRPr lang="en-US" sz="1300" dirty="0"/>
          </a:p>
        </p:txBody>
      </p:sp>
      <p:sp>
        <p:nvSpPr>
          <p:cNvPr id="18" name="Shape 16"/>
          <p:cNvSpPr/>
          <p:nvPr/>
        </p:nvSpPr>
        <p:spPr>
          <a:xfrm>
            <a:off x="6153912" y="4032504"/>
            <a:ext cx="201168" cy="0"/>
          </a:xfrm>
          <a:prstGeom prst="line">
            <a:avLst/>
          </a:prstGeom>
          <a:noFill/>
          <a:ln w="19050">
            <a:solidFill>
              <a:schemeClr val="accent6"/>
            </a:solidFill>
            <a:prstDash val="solid"/>
          </a:ln>
        </p:spPr>
      </p:sp>
      <p:sp>
        <p:nvSpPr>
          <p:cNvPr id="19" name="Shape 17"/>
          <p:cNvSpPr/>
          <p:nvPr/>
        </p:nvSpPr>
        <p:spPr>
          <a:xfrm>
            <a:off x="6355080" y="3840480"/>
            <a:ext cx="960120" cy="384048"/>
          </a:xfrm>
          <a:prstGeom prst="roundRect">
            <a:avLst>
              <a:gd name="adj" fmla="val 50000"/>
            </a:avLst>
          </a:prstGeom>
          <a:solidFill>
            <a:schemeClr val="accent1"/>
          </a:solidFill>
          <a:ln w="12700">
            <a:solidFill>
              <a:schemeClr val="accent1"/>
            </a:solidFill>
            <a:prstDash val="solid"/>
          </a:ln>
        </p:spPr>
      </p:sp>
      <p:sp>
        <p:nvSpPr>
          <p:cNvPr id="20" name="Text 18"/>
          <p:cNvSpPr txBox="1"/>
          <p:nvPr/>
        </p:nvSpPr>
        <p:spPr>
          <a:xfrm>
            <a:off x="6355080" y="3840480"/>
            <a:ext cx="960120" cy="384048"/>
          </a:xfrm>
          <a:prstGeom prst="rect">
            <a:avLst/>
          </a:prstGeom>
          <a:noFill/>
          <a:ln/>
        </p:spPr>
        <p:txBody>
          <a:bodyPr wrap="square" lIns="0" tIns="0" rIns="0" bIns="0" rtlCol="0" anchor="ctr"/>
          <a:lstStyle/>
          <a:p>
            <a:pPr algn="ctr" indent="0" marL="0">
              <a:buNone/>
            </a:pPr>
            <a:r>
              <a:rPr lang="en-US" sz="1300" b="1" dirty="0">
                <a:solidFill>
                  <a:schemeClr val="bg1"/>
                </a:solidFill>
              </a:rPr>
              <a:t>EKS</a:t>
            </a:r>
            <a:endParaRPr lang="en-US" sz="1300" dirty="0"/>
          </a:p>
        </p:txBody>
      </p:sp>
      <p:sp>
        <p:nvSpPr>
          <p:cNvPr id="21" name="Shape 19"/>
          <p:cNvSpPr/>
          <p:nvPr/>
        </p:nvSpPr>
        <p:spPr>
          <a:xfrm>
            <a:off x="7315200" y="4032504"/>
            <a:ext cx="201168" cy="0"/>
          </a:xfrm>
          <a:prstGeom prst="line">
            <a:avLst/>
          </a:prstGeom>
          <a:noFill/>
          <a:ln w="19050">
            <a:solidFill>
              <a:schemeClr val="accent6"/>
            </a:solidFill>
            <a:prstDash val="solid"/>
          </a:ln>
        </p:spPr>
      </p:sp>
      <p:sp>
        <p:nvSpPr>
          <p:cNvPr id="22" name="Shape 20"/>
          <p:cNvSpPr/>
          <p:nvPr/>
        </p:nvSpPr>
        <p:spPr>
          <a:xfrm>
            <a:off x="7516368" y="3840480"/>
            <a:ext cx="960120" cy="384048"/>
          </a:xfrm>
          <a:prstGeom prst="roundRect">
            <a:avLst>
              <a:gd name="adj" fmla="val 50000"/>
            </a:avLst>
          </a:prstGeom>
          <a:solidFill>
            <a:schemeClr val="accent1"/>
          </a:solidFill>
          <a:ln w="12700">
            <a:solidFill>
              <a:schemeClr val="accent1"/>
            </a:solidFill>
            <a:prstDash val="solid"/>
          </a:ln>
        </p:spPr>
      </p:sp>
      <p:sp>
        <p:nvSpPr>
          <p:cNvPr id="23" name="Text 21"/>
          <p:cNvSpPr txBox="1"/>
          <p:nvPr/>
        </p:nvSpPr>
        <p:spPr>
          <a:xfrm>
            <a:off x="7516368" y="3840480"/>
            <a:ext cx="960120" cy="384048"/>
          </a:xfrm>
          <a:prstGeom prst="rect">
            <a:avLst/>
          </a:prstGeom>
          <a:noFill/>
          <a:ln/>
        </p:spPr>
        <p:txBody>
          <a:bodyPr wrap="square" lIns="0" tIns="0" rIns="0" bIns="0" rtlCol="0" anchor="ctr"/>
          <a:lstStyle/>
          <a:p>
            <a:pPr algn="ctr" indent="0" marL="0">
              <a:buNone/>
            </a:pPr>
            <a:r>
              <a:rPr lang="en-US" sz="1300" b="1" dirty="0">
                <a:solidFill>
                  <a:schemeClr val="bg1"/>
                </a:solidFill>
              </a:rPr>
              <a:t>Observe</a:t>
            </a:r>
            <a:endParaRPr lang="en-US" sz="1300" dirty="0"/>
          </a:p>
        </p:txBody>
      </p:sp>
      <p:sp>
        <p:nvSpPr>
          <p:cNvPr id="24" name="Text 22"/>
          <p:cNvSpPr txBox="1"/>
          <p:nvPr/>
        </p:nvSpPr>
        <p:spPr>
          <a:xfrm>
            <a:off x="548640" y="4480560"/>
            <a:ext cx="8046720" cy="274320"/>
          </a:xfrm>
          <a:prstGeom prst="rect">
            <a:avLst/>
          </a:prstGeom>
          <a:noFill/>
          <a:ln/>
        </p:spPr>
        <p:txBody>
          <a:bodyPr wrap="square" lIns="0" tIns="0" rIns="0" bIns="0" rtlCol="0" anchor="ctr"/>
          <a:lstStyle/>
          <a:p>
            <a:pPr indent="0" marL="0">
              <a:buNone/>
            </a:pPr>
            <a:r>
              <a:rPr lang="en-US" sz="1300" dirty="0">
                <a:solidFill>
                  <a:schemeClr val="bg1"/>
                </a:solidFill>
              </a:rPr>
              <a:t>Prateek Singh  ·  Roll No. 24BCS10082  ·  Scaler School of Technology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lIns="0" tIns="0" rIns="0" bIns="0" rtlCol="0" anchor="ctr"/>
          <a:lstStyle/>
          <a:p>
            <a:pPr algn="l" indent="0" marL="0">
              <a:buNone/>
            </a:pPr>
            <a:r>
              <a:rPr lang="en-US" sz="3200" b="1" dirty="0">
                <a:solidFill>
                  <a:schemeClr val="tx2"/>
                </a:solidFill>
              </a:rPr>
              <a:t>The application</a:t>
            </a:r>
            <a:endParaRPr lang="en-US" sz="3200" dirty="0"/>
          </a:p>
        </p:txBody>
      </p:sp>
      <p:sp>
        <p:nvSpPr>
          <p:cNvPr id="3" name="milestone-pill"/>
          <p:cNvSpPr/>
          <p:nvPr/>
        </p:nvSpPr>
        <p:spPr>
          <a:xfrm>
            <a:off x="7818120" y="411480"/>
            <a:ext cx="868680"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7818120" y="411480"/>
            <a:ext cx="868680" cy="384048"/>
          </a:xfrm>
          <a:prstGeom prst="rect">
            <a:avLst/>
          </a:prstGeom>
          <a:noFill/>
          <a:ln/>
        </p:spPr>
        <p:txBody>
          <a:bodyPr wrap="square" lIns="0" tIns="0" rIns="0" bIns="0" rtlCol="0" anchor="ctr"/>
          <a:lstStyle/>
          <a:p>
            <a:pPr algn="ctr" indent="0" marL="0">
              <a:buNone/>
            </a:pPr>
            <a:r>
              <a:rPr lang="en-US" sz="1400" b="1" dirty="0">
                <a:solidFill>
                  <a:schemeClr val="bg1"/>
                </a:solidFill>
              </a:rPr>
              <a:t>M1</a:t>
            </a:r>
            <a:endParaRPr lang="en-US" sz="1400" dirty="0"/>
          </a:p>
        </p:txBody>
      </p:sp>
      <p:sp>
        <p:nvSpPr>
          <p:cNvPr id="6" name="card"/>
          <p:cNvSpPr/>
          <p:nvPr/>
        </p:nvSpPr>
        <p:spPr>
          <a:xfrm>
            <a:off x="457200" y="1188720"/>
            <a:ext cx="3840480" cy="960120"/>
          </a:xfrm>
          <a:prstGeom prst="roundRect">
            <a:avLst>
              <a:gd name="adj" fmla="val 7619"/>
            </a:avLst>
          </a:prstGeom>
          <a:solidFill>
            <a:schemeClr val="bg2"/>
          </a:solidFill>
          <a:ln w="12700">
            <a:solidFill>
              <a:schemeClr val="bg2"/>
            </a:solidFill>
            <a:prstDash val="solid"/>
          </a:ln>
        </p:spPr>
      </p:sp>
      <p:sp>
        <p:nvSpPr>
          <p:cNvPr id="7" name="Shape 4"/>
          <p:cNvSpPr/>
          <p:nvPr/>
        </p:nvSpPr>
        <p:spPr>
          <a:xfrm>
            <a:off x="621792" y="1435608"/>
            <a:ext cx="457200" cy="457200"/>
          </a:xfrm>
          <a:prstGeom prst="ellipse">
            <a:avLst/>
          </a:prstGeom>
          <a:solidFill>
            <a:schemeClr val="accent1"/>
          </a:solidFill>
          <a:ln w="12700">
            <a:solidFill>
              <a:schemeClr val="accent1"/>
            </a:solidFill>
            <a:prstDash val="solid"/>
          </a:ln>
        </p:spPr>
      </p:sp>
      <p:sp>
        <p:nvSpPr>
          <p:cNvPr id="8" name="Text 5"/>
          <p:cNvSpPr txBox="1"/>
          <p:nvPr/>
        </p:nvSpPr>
        <p:spPr>
          <a:xfrm>
            <a:off x="621792" y="1435608"/>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6"/>
          <p:cNvSpPr txBox="1"/>
          <p:nvPr/>
        </p:nvSpPr>
        <p:spPr>
          <a:xfrm>
            <a:off x="1234440" y="1316736"/>
            <a:ext cx="2926080" cy="292608"/>
          </a:xfrm>
          <a:prstGeom prst="rect">
            <a:avLst/>
          </a:prstGeom>
          <a:noFill/>
          <a:ln/>
        </p:spPr>
        <p:txBody>
          <a:bodyPr wrap="square" lIns="0" tIns="0" rIns="0" bIns="0" rtlCol="0" anchor="ctr"/>
          <a:lstStyle/>
          <a:p>
            <a:pPr indent="0" marL="0">
              <a:buNone/>
            </a:pPr>
            <a:r>
              <a:rPr lang="en-US" sz="1500" b="1" dirty="0">
                <a:solidFill>
                  <a:schemeClr val="tx2"/>
                </a:solidFill>
              </a:rPr>
              <a:t>Frontend</a:t>
            </a:r>
            <a:endParaRPr lang="en-US" sz="1500" dirty="0"/>
          </a:p>
        </p:txBody>
      </p:sp>
      <p:sp>
        <p:nvSpPr>
          <p:cNvPr id="10" name="Text 7"/>
          <p:cNvSpPr txBox="1"/>
          <p:nvPr/>
        </p:nvSpPr>
        <p:spPr>
          <a:xfrm>
            <a:off x="1234440" y="1609344"/>
            <a:ext cx="2926080" cy="502920"/>
          </a:xfrm>
          <a:prstGeom prst="rect">
            <a:avLst/>
          </a:prstGeom>
          <a:noFill/>
          <a:ln/>
        </p:spPr>
        <p:txBody>
          <a:bodyPr wrap="square" lIns="0" tIns="0" rIns="0" bIns="0" rtlCol="0" anchor="t"/>
          <a:lstStyle/>
          <a:p>
            <a:pPr indent="0" marL="0">
              <a:buNone/>
            </a:pPr>
            <a:r>
              <a:rPr lang="en-US" sz="1300" dirty="0">
                <a:solidFill>
                  <a:schemeClr val="tx1"/>
                </a:solidFill>
              </a:rPr>
              <a:t>React 18 + Vite on nginx-unprivileged; proxies /api to the backend</a:t>
            </a:r>
            <a:endParaRPr lang="en-US" sz="1300" dirty="0"/>
          </a:p>
        </p:txBody>
      </p:sp>
      <p:sp>
        <p:nvSpPr>
          <p:cNvPr id="11" name="card"/>
          <p:cNvSpPr/>
          <p:nvPr/>
        </p:nvSpPr>
        <p:spPr>
          <a:xfrm>
            <a:off x="457200" y="2304288"/>
            <a:ext cx="3840480" cy="960120"/>
          </a:xfrm>
          <a:prstGeom prst="roundRect">
            <a:avLst>
              <a:gd name="adj" fmla="val 7619"/>
            </a:avLst>
          </a:prstGeom>
          <a:solidFill>
            <a:schemeClr val="bg2"/>
          </a:solidFill>
          <a:ln w="12700">
            <a:solidFill>
              <a:schemeClr val="bg2"/>
            </a:solidFill>
            <a:prstDash val="solid"/>
          </a:ln>
        </p:spPr>
      </p:sp>
      <p:sp>
        <p:nvSpPr>
          <p:cNvPr id="12" name="Shape 9"/>
          <p:cNvSpPr/>
          <p:nvPr/>
        </p:nvSpPr>
        <p:spPr>
          <a:xfrm>
            <a:off x="621792" y="2551176"/>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621792" y="2551176"/>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4" name="Text 11"/>
          <p:cNvSpPr txBox="1"/>
          <p:nvPr/>
        </p:nvSpPr>
        <p:spPr>
          <a:xfrm>
            <a:off x="1234440" y="2432304"/>
            <a:ext cx="2926080" cy="292608"/>
          </a:xfrm>
          <a:prstGeom prst="rect">
            <a:avLst/>
          </a:prstGeom>
          <a:noFill/>
          <a:ln/>
        </p:spPr>
        <p:txBody>
          <a:bodyPr wrap="square" lIns="0" tIns="0" rIns="0" bIns="0" rtlCol="0" anchor="ctr"/>
          <a:lstStyle/>
          <a:p>
            <a:pPr indent="0" marL="0">
              <a:buNone/>
            </a:pPr>
            <a:r>
              <a:rPr lang="en-US" sz="1500" b="1" dirty="0">
                <a:solidFill>
                  <a:schemeClr val="tx2"/>
                </a:solidFill>
              </a:rPr>
              <a:t>Backend</a:t>
            </a:r>
            <a:endParaRPr lang="en-US" sz="1500" dirty="0"/>
          </a:p>
        </p:txBody>
      </p:sp>
      <p:sp>
        <p:nvSpPr>
          <p:cNvPr id="15" name="Text 12"/>
          <p:cNvSpPr txBox="1"/>
          <p:nvPr/>
        </p:nvSpPr>
        <p:spPr>
          <a:xfrm>
            <a:off x="1234440" y="2724912"/>
            <a:ext cx="2926080" cy="502920"/>
          </a:xfrm>
          <a:prstGeom prst="rect">
            <a:avLst/>
          </a:prstGeom>
          <a:noFill/>
          <a:ln/>
        </p:spPr>
        <p:txBody>
          <a:bodyPr wrap="square" lIns="0" tIns="0" rIns="0" bIns="0" rtlCol="0" anchor="t"/>
          <a:lstStyle/>
          <a:p>
            <a:pPr indent="0" marL="0">
              <a:buNone/>
            </a:pPr>
            <a:r>
              <a:rPr lang="en-US" sz="1300" dirty="0">
                <a:solidFill>
                  <a:schemeClr val="tx1"/>
                </a:solidFill>
              </a:rPr>
              <a:t>FastAPI, Python 3.12, psycopg 3, Alembic migrations, /metrics</a:t>
            </a:r>
            <a:endParaRPr lang="en-US" sz="1300" dirty="0"/>
          </a:p>
        </p:txBody>
      </p:sp>
      <p:sp>
        <p:nvSpPr>
          <p:cNvPr id="16" name="card"/>
          <p:cNvSpPr/>
          <p:nvPr/>
        </p:nvSpPr>
        <p:spPr>
          <a:xfrm>
            <a:off x="457200" y="3419856"/>
            <a:ext cx="3840480" cy="960120"/>
          </a:xfrm>
          <a:prstGeom prst="roundRect">
            <a:avLst>
              <a:gd name="adj" fmla="val 7619"/>
            </a:avLst>
          </a:prstGeom>
          <a:solidFill>
            <a:schemeClr val="bg2"/>
          </a:solidFill>
          <a:ln w="12700">
            <a:solidFill>
              <a:schemeClr val="bg2"/>
            </a:solidFill>
            <a:prstDash val="solid"/>
          </a:ln>
        </p:spPr>
      </p:sp>
      <p:sp>
        <p:nvSpPr>
          <p:cNvPr id="17" name="Shape 14"/>
          <p:cNvSpPr/>
          <p:nvPr/>
        </p:nvSpPr>
        <p:spPr>
          <a:xfrm>
            <a:off x="621792" y="3666744"/>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621792" y="3666744"/>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 16"/>
          <p:cNvSpPr txBox="1"/>
          <p:nvPr/>
        </p:nvSpPr>
        <p:spPr>
          <a:xfrm>
            <a:off x="1234440" y="3547872"/>
            <a:ext cx="2926080" cy="292608"/>
          </a:xfrm>
          <a:prstGeom prst="rect">
            <a:avLst/>
          </a:prstGeom>
          <a:noFill/>
          <a:ln/>
        </p:spPr>
        <p:txBody>
          <a:bodyPr wrap="square" lIns="0" tIns="0" rIns="0" bIns="0" rtlCol="0" anchor="ctr"/>
          <a:lstStyle/>
          <a:p>
            <a:pPr indent="0" marL="0">
              <a:buNone/>
            </a:pPr>
            <a:r>
              <a:rPr lang="en-US" sz="1500" b="1" dirty="0">
                <a:solidFill>
                  <a:schemeClr val="tx2"/>
                </a:solidFill>
              </a:rPr>
              <a:t>Database</a:t>
            </a:r>
            <a:endParaRPr lang="en-US" sz="1500" dirty="0"/>
          </a:p>
        </p:txBody>
      </p:sp>
      <p:sp>
        <p:nvSpPr>
          <p:cNvPr id="20" name="Text 17"/>
          <p:cNvSpPr txBox="1"/>
          <p:nvPr/>
        </p:nvSpPr>
        <p:spPr>
          <a:xfrm>
            <a:off x="1234440" y="3840480"/>
            <a:ext cx="2926080" cy="502920"/>
          </a:xfrm>
          <a:prstGeom prst="rect">
            <a:avLst/>
          </a:prstGeom>
          <a:noFill/>
          <a:ln/>
        </p:spPr>
        <p:txBody>
          <a:bodyPr wrap="square" lIns="0" tIns="0" rIns="0" bIns="0" rtlCol="0" anchor="t"/>
          <a:lstStyle/>
          <a:p>
            <a:pPr indent="0" marL="0">
              <a:buNone/>
            </a:pPr>
            <a:r>
              <a:rPr lang="en-US" sz="1300" dirty="0">
                <a:solidFill>
                  <a:schemeClr val="tx1"/>
                </a:solidFill>
              </a:rPr>
              <a:t>PostgreSQL 16, items table with check constraints</a:t>
            </a:r>
            <a:endParaRPr lang="en-US" sz="1300" dirty="0"/>
          </a:p>
        </p:txBody>
      </p:sp>
      <p:sp>
        <p:nvSpPr>
          <p:cNvPr id="21" name="Shape 18"/>
          <p:cNvSpPr/>
          <p:nvPr/>
        </p:nvSpPr>
        <p:spPr>
          <a:xfrm>
            <a:off x="4590288" y="1207008"/>
            <a:ext cx="4123944" cy="2278929"/>
          </a:xfrm>
          <a:prstGeom prst="rect">
            <a:avLst/>
          </a:prstGeom>
          <a:solidFill>
            <a:srgbClr val="D5DDE3"/>
          </a:solidFill>
          <a:ln w="12700">
            <a:solidFill>
              <a:srgbClr val="D5DDE3"/>
            </a:solidFill>
            <a:prstDash val="solid"/>
          </a:ln>
          <a:effectLst>
            <a:outerShdw sx="100000" sy="100000" kx="0" ky="0" algn="bl" rotWithShape="0" blurRad="76200" dist="25400" dir="5400000">
              <a:srgbClr val="000000">
                <a:alpha val="18000"/>
              </a:srgbClr>
            </a:outerShdw>
          </a:effectLst>
        </p:spPr>
      </p:sp>
      <p:pic>
        <p:nvPicPr>
          <p:cNvPr id="22" name="Image 0" descr="The app running at localhost:3000">    </p:cNvPr>
          <p:cNvPicPr>
            <a:picLocks noChangeAspect="1"/>
          </p:cNvPicPr>
          <p:nvPr/>
        </p:nvPicPr>
        <p:blipFill>
          <a:blip r:embed="rId1"/>
          <a:stretch>
            <a:fillRect/>
          </a:stretch>
        </p:blipFill>
        <p:spPr>
          <a:xfrm>
            <a:off x="4617720" y="1234440"/>
            <a:ext cx="4069080" cy="2224065"/>
          </a:xfrm>
          <a:prstGeom prst="rect">
            <a:avLst/>
          </a:prstGeom>
        </p:spPr>
      </p:pic>
      <p:sp>
        <p:nvSpPr>
          <p:cNvPr id="23" name="Text 19"/>
          <p:cNvSpPr txBox="1"/>
          <p:nvPr/>
        </p:nvSpPr>
        <p:spPr>
          <a:xfrm>
            <a:off x="4617720" y="3547872"/>
            <a:ext cx="4069080" cy="274320"/>
          </a:xfrm>
          <a:prstGeom prst="rect">
            <a:avLst/>
          </a:prstGeom>
          <a:noFill/>
          <a:ln/>
        </p:spPr>
        <p:txBody>
          <a:bodyPr wrap="square" lIns="0" tIns="0" rIns="0" bIns="0" rtlCol="0" anchor="ctr"/>
          <a:lstStyle/>
          <a:p>
            <a:pPr indent="0" marL="0">
              <a:buNone/>
            </a:pPr>
            <a:r>
              <a:rPr lang="en-US" sz="1100" i="1" dirty="0">
                <a:solidFill>
                  <a:schemeClr val="accent5"/>
                </a:solidFill>
              </a:rPr>
              <a:t>Running locally with docker compose at localhost:3000</a:t>
            </a:r>
            <a:endParaRPr lang="en-US" sz="1100" dirty="0"/>
          </a:p>
        </p:txBody>
      </p:sp>
      <p:sp>
        <p:nvSpPr>
          <p:cNvPr id="24" name="Text 20"/>
          <p:cNvSpPr txBox="1"/>
          <p:nvPr/>
        </p:nvSpPr>
        <p:spPr>
          <a:xfrm>
            <a:off x="4617720" y="3931920"/>
            <a:ext cx="4069080" cy="502920"/>
          </a:xfrm>
          <a:prstGeom prst="rect">
            <a:avLst/>
          </a:prstGeom>
          <a:noFill/>
          <a:ln/>
        </p:spPr>
        <p:txBody>
          <a:bodyPr wrap="square" lIns="0" tIns="0" rIns="0" bIns="0" rtlCol="0" anchor="ctr"/>
          <a:lstStyle/>
          <a:p>
            <a:pPr indent="0" marL="0">
              <a:buNone/>
            </a:pPr>
            <a:r>
              <a:rPr lang="en-US" sz="1300" dirty="0">
                <a:solidFill>
                  <a:schemeClr val="tx2"/>
                </a:solidFill>
              </a:rPr>
              <a:t>CRUD on /api/items  ·  /api/live  ·  /api/health (503 if DB down)  ·  /metrics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lIns="0" tIns="0" rIns="0" bIns="0" rtlCol="0" anchor="ctr"/>
          <a:lstStyle/>
          <a:p>
            <a:pPr algn="l" indent="0" marL="0">
              <a:buNone/>
            </a:pPr>
            <a:r>
              <a:rPr lang="en-US" sz="3200" b="1" dirty="0">
                <a:solidFill>
                  <a:schemeClr val="tx2"/>
                </a:solidFill>
              </a:rPr>
              <a:t>Architecture end to end</a:t>
            </a:r>
            <a:endParaRPr lang="en-US" sz="3200" dirty="0"/>
          </a:p>
        </p:txBody>
      </p:sp>
      <p:sp>
        <p:nvSpPr>
          <p:cNvPr id="4" name="Shape 1"/>
          <p:cNvSpPr/>
          <p:nvPr/>
        </p:nvSpPr>
        <p:spPr>
          <a:xfrm>
            <a:off x="457200" y="1188720"/>
            <a:ext cx="1463040" cy="502920"/>
          </a:xfrm>
          <a:prstGeom prst="roundRect">
            <a:avLst>
              <a:gd name="adj" fmla="val 14545"/>
            </a:avLst>
          </a:prstGeom>
          <a:solidFill>
            <a:schemeClr val="tx2"/>
          </a:solidFill>
          <a:ln w="12700">
            <a:solidFill>
              <a:schemeClr val="tx2"/>
            </a:solidFill>
            <a:prstDash val="solid"/>
          </a:ln>
        </p:spPr>
      </p:sp>
      <p:sp>
        <p:nvSpPr>
          <p:cNvPr id="5" name="Text 2"/>
          <p:cNvSpPr txBox="1"/>
          <p:nvPr/>
        </p:nvSpPr>
        <p:spPr>
          <a:xfrm>
            <a:off x="457200" y="1188720"/>
            <a:ext cx="1463040" cy="502920"/>
          </a:xfrm>
          <a:prstGeom prst="rect">
            <a:avLst/>
          </a:prstGeom>
          <a:noFill/>
          <a:ln/>
        </p:spPr>
        <p:txBody>
          <a:bodyPr wrap="square" lIns="0" tIns="0" rIns="0" bIns="0" rtlCol="0" anchor="ctr"/>
          <a:lstStyle/>
          <a:p>
            <a:pPr algn="ctr" indent="0" marL="0">
              <a:buNone/>
            </a:pPr>
            <a:r>
              <a:rPr lang="en-US" sz="1300" b="1" dirty="0">
                <a:solidFill>
                  <a:schemeClr val="bg1"/>
                </a:solidFill>
              </a:rPr>
              <a:t>git push</a:t>
            </a:r>
            <a:endParaRPr lang="en-US" sz="1300" dirty="0"/>
          </a:p>
        </p:txBody>
      </p:sp>
      <p:sp>
        <p:nvSpPr>
          <p:cNvPr id="6" name="Shape 3"/>
          <p:cNvSpPr/>
          <p:nvPr/>
        </p:nvSpPr>
        <p:spPr>
          <a:xfrm>
            <a:off x="1920240" y="1440180"/>
            <a:ext cx="201168" cy="0"/>
          </a:xfrm>
          <a:prstGeom prst="line">
            <a:avLst/>
          </a:prstGeom>
          <a:noFill/>
          <a:ln w="19050">
            <a:solidFill>
              <a:schemeClr val="accent5"/>
            </a:solidFill>
            <a:prstDash val="solid"/>
            <a:tailEnd type="triangle"/>
          </a:ln>
        </p:spPr>
      </p:sp>
      <p:sp>
        <p:nvSpPr>
          <p:cNvPr id="7" name="Shape 4"/>
          <p:cNvSpPr/>
          <p:nvPr/>
        </p:nvSpPr>
        <p:spPr>
          <a:xfrm>
            <a:off x="2121408" y="1188720"/>
            <a:ext cx="1463040" cy="502920"/>
          </a:xfrm>
          <a:prstGeom prst="roundRect">
            <a:avLst>
              <a:gd name="adj" fmla="val 14545"/>
            </a:avLst>
          </a:prstGeom>
          <a:solidFill>
            <a:schemeClr val="tx2"/>
          </a:solidFill>
          <a:ln w="12700">
            <a:solidFill>
              <a:schemeClr val="tx2"/>
            </a:solidFill>
            <a:prstDash val="solid"/>
          </a:ln>
        </p:spPr>
      </p:sp>
      <p:sp>
        <p:nvSpPr>
          <p:cNvPr id="8" name="Text 5"/>
          <p:cNvSpPr txBox="1"/>
          <p:nvPr/>
        </p:nvSpPr>
        <p:spPr>
          <a:xfrm>
            <a:off x="2121408" y="1188720"/>
            <a:ext cx="1463040" cy="502920"/>
          </a:xfrm>
          <a:prstGeom prst="rect">
            <a:avLst/>
          </a:prstGeom>
          <a:noFill/>
          <a:ln/>
        </p:spPr>
        <p:txBody>
          <a:bodyPr wrap="square" lIns="0" tIns="0" rIns="0" bIns="0" rtlCol="0" anchor="ctr"/>
          <a:lstStyle/>
          <a:p>
            <a:pPr algn="ctr" indent="0" marL="0">
              <a:buNone/>
            </a:pPr>
            <a:r>
              <a:rPr lang="en-US" sz="1300" b="1" dirty="0">
                <a:solidFill>
                  <a:schemeClr val="bg1"/>
                </a:solidFill>
              </a:rPr>
              <a:t>GitHub Actions</a:t>
            </a:r>
            <a:endParaRPr lang="en-US" sz="1300" dirty="0"/>
          </a:p>
        </p:txBody>
      </p:sp>
      <p:sp>
        <p:nvSpPr>
          <p:cNvPr id="9" name="Shape 6"/>
          <p:cNvSpPr/>
          <p:nvPr/>
        </p:nvSpPr>
        <p:spPr>
          <a:xfrm>
            <a:off x="3584448" y="1440180"/>
            <a:ext cx="201168" cy="0"/>
          </a:xfrm>
          <a:prstGeom prst="line">
            <a:avLst/>
          </a:prstGeom>
          <a:noFill/>
          <a:ln w="19050">
            <a:solidFill>
              <a:schemeClr val="accent5"/>
            </a:solidFill>
            <a:prstDash val="solid"/>
            <a:tailEnd type="triangle"/>
          </a:ln>
        </p:spPr>
      </p:sp>
      <p:sp>
        <p:nvSpPr>
          <p:cNvPr id="10" name="Shape 7"/>
          <p:cNvSpPr/>
          <p:nvPr/>
        </p:nvSpPr>
        <p:spPr>
          <a:xfrm>
            <a:off x="3785616" y="1188720"/>
            <a:ext cx="1463040" cy="502920"/>
          </a:xfrm>
          <a:prstGeom prst="roundRect">
            <a:avLst>
              <a:gd name="adj" fmla="val 14545"/>
            </a:avLst>
          </a:prstGeom>
          <a:solidFill>
            <a:schemeClr val="accent2"/>
          </a:solidFill>
          <a:ln w="12700">
            <a:solidFill>
              <a:schemeClr val="accent2"/>
            </a:solidFill>
            <a:prstDash val="solid"/>
          </a:ln>
        </p:spPr>
      </p:sp>
      <p:sp>
        <p:nvSpPr>
          <p:cNvPr id="11" name="Text 8"/>
          <p:cNvSpPr txBox="1"/>
          <p:nvPr/>
        </p:nvSpPr>
        <p:spPr>
          <a:xfrm>
            <a:off x="3785616" y="1188720"/>
            <a:ext cx="1463040" cy="502920"/>
          </a:xfrm>
          <a:prstGeom prst="rect">
            <a:avLst/>
          </a:prstGeom>
          <a:noFill/>
          <a:ln/>
        </p:spPr>
        <p:txBody>
          <a:bodyPr wrap="square" lIns="0" tIns="0" rIns="0" bIns="0" rtlCol="0" anchor="ctr"/>
          <a:lstStyle/>
          <a:p>
            <a:pPr algn="ctr" indent="0" marL="0">
              <a:buNone/>
            </a:pPr>
            <a:r>
              <a:rPr lang="en-US" sz="1300" b="1" dirty="0">
                <a:solidFill>
                  <a:schemeClr val="bg1"/>
                </a:solidFill>
              </a:rPr>
              <a:t>Trivy gate</a:t>
            </a:r>
            <a:endParaRPr lang="en-US" sz="1300" dirty="0"/>
          </a:p>
        </p:txBody>
      </p:sp>
      <p:sp>
        <p:nvSpPr>
          <p:cNvPr id="12" name="Shape 9"/>
          <p:cNvSpPr/>
          <p:nvPr/>
        </p:nvSpPr>
        <p:spPr>
          <a:xfrm>
            <a:off x="5248656" y="1440180"/>
            <a:ext cx="201168" cy="0"/>
          </a:xfrm>
          <a:prstGeom prst="line">
            <a:avLst/>
          </a:prstGeom>
          <a:noFill/>
          <a:ln w="19050">
            <a:solidFill>
              <a:schemeClr val="accent5"/>
            </a:solidFill>
            <a:prstDash val="solid"/>
            <a:tailEnd type="triangle"/>
          </a:ln>
        </p:spPr>
      </p:sp>
      <p:sp>
        <p:nvSpPr>
          <p:cNvPr id="13" name="Shape 10"/>
          <p:cNvSpPr/>
          <p:nvPr/>
        </p:nvSpPr>
        <p:spPr>
          <a:xfrm>
            <a:off x="5449824" y="1188720"/>
            <a:ext cx="1463040" cy="502920"/>
          </a:xfrm>
          <a:prstGeom prst="roundRect">
            <a:avLst>
              <a:gd name="adj" fmla="val 14545"/>
            </a:avLst>
          </a:prstGeom>
          <a:solidFill>
            <a:schemeClr val="tx2"/>
          </a:solidFill>
          <a:ln w="12700">
            <a:solidFill>
              <a:schemeClr val="tx2"/>
            </a:solidFill>
            <a:prstDash val="solid"/>
          </a:ln>
        </p:spPr>
      </p:sp>
      <p:sp>
        <p:nvSpPr>
          <p:cNvPr id="14" name="Text 11"/>
          <p:cNvSpPr txBox="1"/>
          <p:nvPr/>
        </p:nvSpPr>
        <p:spPr>
          <a:xfrm>
            <a:off x="5449824" y="1188720"/>
            <a:ext cx="1463040" cy="502920"/>
          </a:xfrm>
          <a:prstGeom prst="rect">
            <a:avLst/>
          </a:prstGeom>
          <a:noFill/>
          <a:ln/>
        </p:spPr>
        <p:txBody>
          <a:bodyPr wrap="square" lIns="0" tIns="0" rIns="0" bIns="0" rtlCol="0" anchor="ctr"/>
          <a:lstStyle/>
          <a:p>
            <a:pPr algn="ctr" indent="0" marL="0">
              <a:buNone/>
            </a:pPr>
            <a:r>
              <a:rPr lang="en-US" sz="1300" b="1" dirty="0">
                <a:solidFill>
                  <a:schemeClr val="bg1"/>
                </a:solidFill>
              </a:rPr>
              <a:t>GHCR push</a:t>
            </a:r>
            <a:endParaRPr lang="en-US" sz="1300" dirty="0"/>
          </a:p>
        </p:txBody>
      </p:sp>
      <p:sp>
        <p:nvSpPr>
          <p:cNvPr id="15" name="Shape 12"/>
          <p:cNvSpPr/>
          <p:nvPr/>
        </p:nvSpPr>
        <p:spPr>
          <a:xfrm>
            <a:off x="6912864" y="1440180"/>
            <a:ext cx="201168" cy="0"/>
          </a:xfrm>
          <a:prstGeom prst="line">
            <a:avLst/>
          </a:prstGeom>
          <a:noFill/>
          <a:ln w="19050">
            <a:solidFill>
              <a:schemeClr val="accent5"/>
            </a:solidFill>
            <a:prstDash val="solid"/>
            <a:tailEnd type="triangle"/>
          </a:ln>
        </p:spPr>
      </p:sp>
      <p:sp>
        <p:nvSpPr>
          <p:cNvPr id="16" name="Shape 13"/>
          <p:cNvSpPr/>
          <p:nvPr/>
        </p:nvSpPr>
        <p:spPr>
          <a:xfrm>
            <a:off x="7114032" y="1188720"/>
            <a:ext cx="1463040" cy="502920"/>
          </a:xfrm>
          <a:prstGeom prst="roundRect">
            <a:avLst>
              <a:gd name="adj" fmla="val 14545"/>
            </a:avLst>
          </a:prstGeom>
          <a:solidFill>
            <a:schemeClr val="tx2"/>
          </a:solidFill>
          <a:ln w="12700">
            <a:solidFill>
              <a:schemeClr val="tx2"/>
            </a:solidFill>
            <a:prstDash val="solid"/>
          </a:ln>
        </p:spPr>
      </p:sp>
      <p:sp>
        <p:nvSpPr>
          <p:cNvPr id="17" name="Text 14"/>
          <p:cNvSpPr txBox="1"/>
          <p:nvPr/>
        </p:nvSpPr>
        <p:spPr>
          <a:xfrm>
            <a:off x="7114032" y="1188720"/>
            <a:ext cx="1463040" cy="502920"/>
          </a:xfrm>
          <a:prstGeom prst="rect">
            <a:avLst/>
          </a:prstGeom>
          <a:noFill/>
          <a:ln/>
        </p:spPr>
        <p:txBody>
          <a:bodyPr wrap="square" lIns="0" tIns="0" rIns="0" bIns="0" rtlCol="0" anchor="ctr"/>
          <a:lstStyle/>
          <a:p>
            <a:pPr algn="ctr" indent="0" marL="0">
              <a:buNone/>
            </a:pPr>
            <a:r>
              <a:rPr lang="en-US" sz="1300" b="1" dirty="0">
                <a:solidFill>
                  <a:schemeClr val="bg1"/>
                </a:solidFill>
              </a:rPr>
              <a:t>helm upgrade</a:t>
            </a:r>
            <a:endParaRPr lang="en-US" sz="1300" dirty="0"/>
          </a:p>
        </p:txBody>
      </p:sp>
      <p:sp>
        <p:nvSpPr>
          <p:cNvPr id="18" name="Shape 15"/>
          <p:cNvSpPr/>
          <p:nvPr/>
        </p:nvSpPr>
        <p:spPr>
          <a:xfrm>
            <a:off x="457200" y="2011680"/>
            <a:ext cx="8229600" cy="2606040"/>
          </a:xfrm>
          <a:prstGeom prst="roundRect">
            <a:avLst>
              <a:gd name="adj" fmla="val 3509"/>
            </a:avLst>
          </a:prstGeom>
          <a:solidFill>
            <a:schemeClr val="bg2"/>
          </a:solidFill>
          <a:ln w="12700">
            <a:solidFill>
              <a:schemeClr val="accent6"/>
            </a:solidFill>
            <a:prstDash val="solid"/>
          </a:ln>
        </p:spPr>
      </p:sp>
      <p:sp>
        <p:nvSpPr>
          <p:cNvPr id="19" name="Text 16"/>
          <p:cNvSpPr txBox="1"/>
          <p:nvPr/>
        </p:nvSpPr>
        <p:spPr>
          <a:xfrm>
            <a:off x="640080" y="2103120"/>
            <a:ext cx="7863840" cy="274320"/>
          </a:xfrm>
          <a:prstGeom prst="rect">
            <a:avLst/>
          </a:prstGeom>
          <a:noFill/>
          <a:ln/>
        </p:spPr>
        <p:txBody>
          <a:bodyPr wrap="square" lIns="0" tIns="0" rIns="0" bIns="0" rtlCol="0" anchor="ctr"/>
          <a:lstStyle/>
          <a:p>
            <a:pPr indent="0" marL="0">
              <a:buNone/>
            </a:pPr>
            <a:r>
              <a:rPr lang="en-US" sz="1200" b="1" dirty="0">
                <a:solidFill>
                  <a:schemeClr val="accent1"/>
                </a:solidFill>
              </a:rPr>
              <a:t>Kubernetes on AWS EKS (Terraform: VPC, 2 public subnets, EKS 1.31, node group)</a:t>
            </a:r>
            <a:endParaRPr lang="en-US" sz="1200" dirty="0"/>
          </a:p>
        </p:txBody>
      </p:sp>
      <p:sp>
        <p:nvSpPr>
          <p:cNvPr id="20" name="Shape 17"/>
          <p:cNvSpPr/>
          <p:nvPr/>
        </p:nvSpPr>
        <p:spPr>
          <a:xfrm>
            <a:off x="640080" y="3017520"/>
            <a:ext cx="1463040" cy="548640"/>
          </a:xfrm>
          <a:prstGeom prst="roundRect">
            <a:avLst>
              <a:gd name="adj" fmla="val 13333"/>
            </a:avLst>
          </a:prstGeom>
          <a:solidFill>
            <a:schemeClr val="bg1"/>
          </a:solidFill>
          <a:ln w="15875">
            <a:solidFill>
              <a:schemeClr val="tx2"/>
            </a:solidFill>
            <a:prstDash val="solid"/>
          </a:ln>
        </p:spPr>
      </p:sp>
      <p:sp>
        <p:nvSpPr>
          <p:cNvPr id="21" name="Text 18"/>
          <p:cNvSpPr txBox="1"/>
          <p:nvPr/>
        </p:nvSpPr>
        <p:spPr>
          <a:xfrm>
            <a:off x="640080" y="3017520"/>
            <a:ext cx="1463040" cy="548640"/>
          </a:xfrm>
          <a:prstGeom prst="rect">
            <a:avLst/>
          </a:prstGeom>
          <a:noFill/>
          <a:ln/>
        </p:spPr>
        <p:txBody>
          <a:bodyPr wrap="square" lIns="25400" tIns="25400" rIns="25400" bIns="25400" rtlCol="0" anchor="ctr"/>
          <a:lstStyle/>
          <a:p>
            <a:pPr algn="ctr" indent="0" marL="0">
              <a:buNone/>
            </a:pPr>
            <a:r>
              <a:rPr lang="en-US" sz="1200" dirty="0">
                <a:solidFill>
                  <a:schemeClr val="tx1"/>
                </a:solidFill>
              </a:rPr>
              <a:t>Ingress (nginx)</a:t>
            </a:r>
            <a:endParaRPr lang="en-US" sz="1200" dirty="0"/>
          </a:p>
        </p:txBody>
      </p:sp>
      <p:sp>
        <p:nvSpPr>
          <p:cNvPr id="22" name="Shape 19"/>
          <p:cNvSpPr/>
          <p:nvPr/>
        </p:nvSpPr>
        <p:spPr>
          <a:xfrm>
            <a:off x="2606040" y="2560320"/>
            <a:ext cx="1645920" cy="548640"/>
          </a:xfrm>
          <a:prstGeom prst="roundRect">
            <a:avLst>
              <a:gd name="adj" fmla="val 13333"/>
            </a:avLst>
          </a:prstGeom>
          <a:solidFill>
            <a:schemeClr val="bg1"/>
          </a:solidFill>
          <a:ln w="15875">
            <a:solidFill>
              <a:schemeClr val="accent5"/>
            </a:solidFill>
            <a:prstDash val="solid"/>
          </a:ln>
        </p:spPr>
      </p:sp>
      <p:sp>
        <p:nvSpPr>
          <p:cNvPr id="23" name="Text 20"/>
          <p:cNvSpPr txBox="1"/>
          <p:nvPr/>
        </p:nvSpPr>
        <p:spPr>
          <a:xfrm>
            <a:off x="2606040" y="2560320"/>
            <a:ext cx="1645920" cy="548640"/>
          </a:xfrm>
          <a:prstGeom prst="rect">
            <a:avLst/>
          </a:prstGeom>
          <a:noFill/>
          <a:ln/>
        </p:spPr>
        <p:txBody>
          <a:bodyPr wrap="square" lIns="25400" tIns="25400" rIns="25400" bIns="25400" rtlCol="0" anchor="ctr"/>
          <a:lstStyle/>
          <a:p>
            <a:pPr algn="ctr" indent="0" marL="0">
              <a:buNone/>
            </a:pPr>
            <a:r>
              <a:rPr lang="en-US" sz="1200" dirty="0">
                <a:solidFill>
                  <a:schemeClr val="tx1"/>
                </a:solidFill>
              </a:rPr>
              <a:t>frontend ×2</a:t>
            </a:r>
            <a:endParaRPr lang="en-US" sz="1200" dirty="0"/>
          </a:p>
          <a:p>
            <a:pPr algn="ctr" indent="0" marL="0">
              <a:buNone/>
            </a:pPr>
            <a:r>
              <a:rPr lang="en-US" sz="1200" dirty="0">
                <a:solidFill>
                  <a:schemeClr val="tx1"/>
                </a:solidFill>
              </a:rPr>
              <a:t>nginx + React</a:t>
            </a:r>
            <a:endParaRPr lang="en-US" sz="1200" dirty="0"/>
          </a:p>
        </p:txBody>
      </p:sp>
      <p:sp>
        <p:nvSpPr>
          <p:cNvPr id="24" name="Shape 21"/>
          <p:cNvSpPr/>
          <p:nvPr/>
        </p:nvSpPr>
        <p:spPr>
          <a:xfrm>
            <a:off x="2606040" y="3474720"/>
            <a:ext cx="1645920" cy="548640"/>
          </a:xfrm>
          <a:prstGeom prst="roundRect">
            <a:avLst>
              <a:gd name="adj" fmla="val 13333"/>
            </a:avLst>
          </a:prstGeom>
          <a:solidFill>
            <a:schemeClr val="bg1"/>
          </a:solidFill>
          <a:ln w="15875">
            <a:solidFill>
              <a:schemeClr val="accent5"/>
            </a:solidFill>
            <a:prstDash val="solid"/>
          </a:ln>
        </p:spPr>
      </p:sp>
      <p:sp>
        <p:nvSpPr>
          <p:cNvPr id="25" name="Text 22"/>
          <p:cNvSpPr txBox="1"/>
          <p:nvPr/>
        </p:nvSpPr>
        <p:spPr>
          <a:xfrm>
            <a:off x="2606040" y="3474720"/>
            <a:ext cx="1645920" cy="548640"/>
          </a:xfrm>
          <a:prstGeom prst="rect">
            <a:avLst/>
          </a:prstGeom>
          <a:noFill/>
          <a:ln/>
        </p:spPr>
        <p:txBody>
          <a:bodyPr wrap="square" lIns="25400" tIns="25400" rIns="25400" bIns="25400" rtlCol="0" anchor="ctr"/>
          <a:lstStyle/>
          <a:p>
            <a:pPr algn="ctr" indent="0" marL="0">
              <a:buNone/>
            </a:pPr>
            <a:r>
              <a:rPr lang="en-US" sz="1200" dirty="0">
                <a:solidFill>
                  <a:schemeClr val="tx1"/>
                </a:solidFill>
              </a:rPr>
              <a:t>backend ×2–5 (HPA)</a:t>
            </a:r>
            <a:endParaRPr lang="en-US" sz="1200" dirty="0"/>
          </a:p>
          <a:p>
            <a:pPr algn="ctr" indent="0" marL="0">
              <a:buNone/>
            </a:pPr>
            <a:r>
              <a:rPr lang="en-US" sz="1200" dirty="0">
                <a:solidFill>
                  <a:schemeClr val="tx1"/>
                </a:solidFill>
              </a:rPr>
              <a:t>FastAPI</a:t>
            </a:r>
            <a:endParaRPr lang="en-US" sz="1200" dirty="0"/>
          </a:p>
        </p:txBody>
      </p:sp>
      <p:sp>
        <p:nvSpPr>
          <p:cNvPr id="26" name="Shape 23"/>
          <p:cNvSpPr/>
          <p:nvPr/>
        </p:nvSpPr>
        <p:spPr>
          <a:xfrm>
            <a:off x="4800600" y="3474720"/>
            <a:ext cx="1645920" cy="548640"/>
          </a:xfrm>
          <a:prstGeom prst="roundRect">
            <a:avLst>
              <a:gd name="adj" fmla="val 13333"/>
            </a:avLst>
          </a:prstGeom>
          <a:solidFill>
            <a:schemeClr val="bg1"/>
          </a:solidFill>
          <a:ln w="15875">
            <a:solidFill>
              <a:schemeClr val="accent5"/>
            </a:solidFill>
            <a:prstDash val="solid"/>
          </a:ln>
        </p:spPr>
      </p:sp>
      <p:sp>
        <p:nvSpPr>
          <p:cNvPr id="27" name="Text 24"/>
          <p:cNvSpPr txBox="1"/>
          <p:nvPr/>
        </p:nvSpPr>
        <p:spPr>
          <a:xfrm>
            <a:off x="4800600" y="3474720"/>
            <a:ext cx="1645920" cy="548640"/>
          </a:xfrm>
          <a:prstGeom prst="rect">
            <a:avLst/>
          </a:prstGeom>
          <a:noFill/>
          <a:ln/>
        </p:spPr>
        <p:txBody>
          <a:bodyPr wrap="square" lIns="25400" tIns="25400" rIns="25400" bIns="25400" rtlCol="0" anchor="ctr"/>
          <a:lstStyle/>
          <a:p>
            <a:pPr algn="ctr" indent="0" marL="0">
              <a:buNone/>
            </a:pPr>
            <a:r>
              <a:rPr lang="en-US" sz="1200" dirty="0">
                <a:solidFill>
                  <a:schemeClr val="tx1"/>
                </a:solidFill>
              </a:rPr>
              <a:t>PostgreSQL</a:t>
            </a:r>
            <a:endParaRPr lang="en-US" sz="1200" dirty="0"/>
          </a:p>
          <a:p>
            <a:pPr algn="ctr" indent="0" marL="0">
              <a:buNone/>
            </a:pPr>
            <a:r>
              <a:rPr lang="en-US" sz="1200" dirty="0">
                <a:solidFill>
                  <a:schemeClr val="tx1"/>
                </a:solidFill>
              </a:rPr>
              <a:t>StatefulSet + PVC</a:t>
            </a:r>
            <a:endParaRPr lang="en-US" sz="1200" dirty="0"/>
          </a:p>
        </p:txBody>
      </p:sp>
      <p:sp>
        <p:nvSpPr>
          <p:cNvPr id="28" name="Shape 25"/>
          <p:cNvSpPr/>
          <p:nvPr/>
        </p:nvSpPr>
        <p:spPr>
          <a:xfrm>
            <a:off x="6903720" y="2560320"/>
            <a:ext cx="1600200" cy="548640"/>
          </a:xfrm>
          <a:prstGeom prst="roundRect">
            <a:avLst>
              <a:gd name="adj" fmla="val 13333"/>
            </a:avLst>
          </a:prstGeom>
          <a:solidFill>
            <a:schemeClr val="bg1"/>
          </a:solidFill>
          <a:ln w="15875">
            <a:solidFill>
              <a:schemeClr val="accent1"/>
            </a:solidFill>
            <a:prstDash val="solid"/>
          </a:ln>
        </p:spPr>
      </p:sp>
      <p:sp>
        <p:nvSpPr>
          <p:cNvPr id="29" name="Text 26"/>
          <p:cNvSpPr txBox="1"/>
          <p:nvPr/>
        </p:nvSpPr>
        <p:spPr>
          <a:xfrm>
            <a:off x="6903720" y="2560320"/>
            <a:ext cx="1600200" cy="548640"/>
          </a:xfrm>
          <a:prstGeom prst="rect">
            <a:avLst/>
          </a:prstGeom>
          <a:noFill/>
          <a:ln/>
        </p:spPr>
        <p:txBody>
          <a:bodyPr wrap="square" lIns="25400" tIns="25400" rIns="25400" bIns="25400" rtlCol="0" anchor="ctr"/>
          <a:lstStyle/>
          <a:p>
            <a:pPr algn="ctr" indent="0" marL="0">
              <a:buNone/>
            </a:pPr>
            <a:r>
              <a:rPr lang="en-US" sz="1200" dirty="0">
                <a:solidFill>
                  <a:schemeClr val="tx1"/>
                </a:solidFill>
              </a:rPr>
              <a:t>Prometheus</a:t>
            </a:r>
            <a:endParaRPr lang="en-US" sz="1200" dirty="0"/>
          </a:p>
          <a:p>
            <a:pPr algn="ctr" indent="0" marL="0">
              <a:buNone/>
            </a:pPr>
            <a:r>
              <a:rPr lang="en-US" sz="1200" dirty="0">
                <a:solidFill>
                  <a:schemeClr val="tx1"/>
                </a:solidFill>
              </a:rPr>
              <a:t>Alertmanager</a:t>
            </a:r>
            <a:endParaRPr lang="en-US" sz="1200" dirty="0"/>
          </a:p>
        </p:txBody>
      </p:sp>
      <p:sp>
        <p:nvSpPr>
          <p:cNvPr id="30" name="Shape 27"/>
          <p:cNvSpPr/>
          <p:nvPr/>
        </p:nvSpPr>
        <p:spPr>
          <a:xfrm>
            <a:off x="6903720" y="3474720"/>
            <a:ext cx="1600200" cy="548640"/>
          </a:xfrm>
          <a:prstGeom prst="roundRect">
            <a:avLst>
              <a:gd name="adj" fmla="val 13333"/>
            </a:avLst>
          </a:prstGeom>
          <a:solidFill>
            <a:schemeClr val="bg1"/>
          </a:solidFill>
          <a:ln w="15875">
            <a:solidFill>
              <a:schemeClr val="accent1"/>
            </a:solidFill>
            <a:prstDash val="solid"/>
          </a:ln>
        </p:spPr>
      </p:sp>
      <p:sp>
        <p:nvSpPr>
          <p:cNvPr id="31" name="Text 28"/>
          <p:cNvSpPr txBox="1"/>
          <p:nvPr/>
        </p:nvSpPr>
        <p:spPr>
          <a:xfrm>
            <a:off x="6903720" y="3474720"/>
            <a:ext cx="1600200" cy="548640"/>
          </a:xfrm>
          <a:prstGeom prst="rect">
            <a:avLst/>
          </a:prstGeom>
          <a:noFill/>
          <a:ln/>
        </p:spPr>
        <p:txBody>
          <a:bodyPr wrap="square" lIns="25400" tIns="25400" rIns="25400" bIns="25400" rtlCol="0" anchor="ctr"/>
          <a:lstStyle/>
          <a:p>
            <a:pPr algn="ctr" indent="0" marL="0">
              <a:buNone/>
            </a:pPr>
            <a:r>
              <a:rPr lang="en-US" sz="1200" dirty="0">
                <a:solidFill>
                  <a:schemeClr val="tx1"/>
                </a:solidFill>
              </a:rPr>
              <a:t>Grafana dashboard</a:t>
            </a:r>
            <a:endParaRPr lang="en-US" sz="1200" dirty="0"/>
          </a:p>
        </p:txBody>
      </p:sp>
      <p:sp>
        <p:nvSpPr>
          <p:cNvPr id="32" name="Shape 29"/>
          <p:cNvSpPr/>
          <p:nvPr/>
        </p:nvSpPr>
        <p:spPr>
          <a:xfrm>
            <a:off x="2103120" y="3154680"/>
            <a:ext cx="502920" cy="-320040"/>
          </a:xfrm>
          <a:prstGeom prst="line">
            <a:avLst/>
          </a:prstGeom>
          <a:noFill/>
          <a:ln w="15875">
            <a:solidFill>
              <a:schemeClr val="accent5"/>
            </a:solidFill>
            <a:prstDash val="solid"/>
            <a:tailEnd type="triangle"/>
          </a:ln>
        </p:spPr>
      </p:sp>
      <p:sp>
        <p:nvSpPr>
          <p:cNvPr id="33" name="Shape 30"/>
          <p:cNvSpPr/>
          <p:nvPr/>
        </p:nvSpPr>
        <p:spPr>
          <a:xfrm>
            <a:off x="2103120" y="3429000"/>
            <a:ext cx="502920" cy="320040"/>
          </a:xfrm>
          <a:prstGeom prst="line">
            <a:avLst/>
          </a:prstGeom>
          <a:noFill/>
          <a:ln w="15875">
            <a:solidFill>
              <a:schemeClr val="accent5"/>
            </a:solidFill>
            <a:prstDash val="solid"/>
            <a:tailEnd type="triangle"/>
          </a:ln>
        </p:spPr>
      </p:sp>
      <p:sp>
        <p:nvSpPr>
          <p:cNvPr id="34" name="Text 31"/>
          <p:cNvSpPr txBox="1"/>
          <p:nvPr/>
        </p:nvSpPr>
        <p:spPr>
          <a:xfrm>
            <a:off x="2148840" y="2743200"/>
            <a:ext cx="274320" cy="228600"/>
          </a:xfrm>
          <a:prstGeom prst="rect">
            <a:avLst/>
          </a:prstGeom>
          <a:noFill/>
          <a:ln/>
        </p:spPr>
        <p:txBody>
          <a:bodyPr wrap="square" lIns="0" tIns="0" rIns="0" bIns="0" rtlCol="0" anchor="ctr"/>
          <a:lstStyle/>
          <a:p>
            <a:pPr indent="0" marL="0">
              <a:buNone/>
            </a:pPr>
            <a:r>
              <a:rPr lang="en-US" sz="1100" dirty="0">
                <a:solidFill>
                  <a:schemeClr val="accent5"/>
                </a:solidFill>
              </a:rPr>
              <a:t>/</a:t>
            </a:r>
            <a:endParaRPr lang="en-US" sz="1100" dirty="0"/>
          </a:p>
        </p:txBody>
      </p:sp>
      <p:sp>
        <p:nvSpPr>
          <p:cNvPr id="35" name="Text 32"/>
          <p:cNvSpPr txBox="1"/>
          <p:nvPr/>
        </p:nvSpPr>
        <p:spPr>
          <a:xfrm>
            <a:off x="2103120" y="3794760"/>
            <a:ext cx="457200" cy="228600"/>
          </a:xfrm>
          <a:prstGeom prst="rect">
            <a:avLst/>
          </a:prstGeom>
          <a:noFill/>
          <a:ln/>
        </p:spPr>
        <p:txBody>
          <a:bodyPr wrap="square" lIns="0" tIns="0" rIns="0" bIns="0" rtlCol="0" anchor="ctr"/>
          <a:lstStyle/>
          <a:p>
            <a:pPr indent="0" marL="0">
              <a:buNone/>
            </a:pPr>
            <a:r>
              <a:rPr lang="en-US" sz="1100" dirty="0">
                <a:solidFill>
                  <a:schemeClr val="accent5"/>
                </a:solidFill>
              </a:rPr>
              <a:t>/api</a:t>
            </a:r>
            <a:endParaRPr lang="en-US" sz="1100" dirty="0"/>
          </a:p>
        </p:txBody>
      </p:sp>
      <p:sp>
        <p:nvSpPr>
          <p:cNvPr id="36" name="Shape 33"/>
          <p:cNvSpPr/>
          <p:nvPr/>
        </p:nvSpPr>
        <p:spPr>
          <a:xfrm>
            <a:off x="4251960" y="3749040"/>
            <a:ext cx="548640" cy="0"/>
          </a:xfrm>
          <a:prstGeom prst="line">
            <a:avLst/>
          </a:prstGeom>
          <a:noFill/>
          <a:ln w="15875">
            <a:solidFill>
              <a:schemeClr val="accent5"/>
            </a:solidFill>
            <a:prstDash val="solid"/>
            <a:tailEnd type="triangle"/>
          </a:ln>
        </p:spPr>
      </p:sp>
      <p:sp>
        <p:nvSpPr>
          <p:cNvPr id="37" name="Shape 34"/>
          <p:cNvSpPr/>
          <p:nvPr/>
        </p:nvSpPr>
        <p:spPr>
          <a:xfrm>
            <a:off x="4251960" y="3566160"/>
            <a:ext cx="2651760" cy="-731520"/>
          </a:xfrm>
          <a:prstGeom prst="line">
            <a:avLst/>
          </a:prstGeom>
          <a:noFill/>
          <a:ln w="15875">
            <a:solidFill>
              <a:schemeClr val="accent1"/>
            </a:solidFill>
            <a:prstDash val="dash"/>
            <a:headEnd type="triangle"/>
          </a:ln>
        </p:spPr>
      </p:sp>
      <p:sp>
        <p:nvSpPr>
          <p:cNvPr id="38" name="Text 35"/>
          <p:cNvSpPr txBox="1"/>
          <p:nvPr/>
        </p:nvSpPr>
        <p:spPr>
          <a:xfrm>
            <a:off x="4434840" y="2560320"/>
            <a:ext cx="2377440" cy="228600"/>
          </a:xfrm>
          <a:prstGeom prst="rect">
            <a:avLst/>
          </a:prstGeom>
          <a:noFill/>
          <a:ln/>
        </p:spPr>
        <p:txBody>
          <a:bodyPr wrap="square" lIns="0" tIns="0" rIns="0" bIns="0" rtlCol="0" anchor="ctr"/>
          <a:lstStyle/>
          <a:p>
            <a:pPr indent="0" marL="0">
              <a:buNone/>
            </a:pPr>
            <a:r>
              <a:rPr lang="en-US" sz="1100" i="1" dirty="0">
                <a:solidFill>
                  <a:schemeClr val="accent1"/>
                </a:solidFill>
              </a:rPr>
              <a:t>ServiceMonitor scrapes /metrics</a:t>
            </a:r>
            <a:endParaRPr lang="en-US" sz="1100" dirty="0"/>
          </a:p>
        </p:txBody>
      </p:sp>
      <p:sp>
        <p:nvSpPr>
          <p:cNvPr id="39" name="Shape 36"/>
          <p:cNvSpPr/>
          <p:nvPr/>
        </p:nvSpPr>
        <p:spPr>
          <a:xfrm>
            <a:off x="7699248" y="3108960"/>
            <a:ext cx="0" cy="365760"/>
          </a:xfrm>
          <a:prstGeom prst="line">
            <a:avLst/>
          </a:prstGeom>
          <a:noFill/>
          <a:ln w="15875">
            <a:solidFill>
              <a:schemeClr val="accent5"/>
            </a:solidFill>
            <a:prstDash val="solid"/>
            <a:tailEnd type="triangle"/>
          </a:ln>
        </p:spPr>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lIns="0" tIns="0" rIns="0" bIns="0" rtlCol="0" anchor="ctr"/>
          <a:lstStyle/>
          <a:p>
            <a:pPr algn="l" indent="0" marL="0">
              <a:buNone/>
            </a:pPr>
            <a:r>
              <a:rPr lang="en-US" sz="3200" b="1" dirty="0">
                <a:solidFill>
                  <a:schemeClr val="tx2"/>
                </a:solidFill>
              </a:rPr>
              <a:t>Tests and containers</a:t>
            </a:r>
            <a:endParaRPr lang="en-US" sz="3200" dirty="0"/>
          </a:p>
        </p:txBody>
      </p:sp>
      <p:sp>
        <p:nvSpPr>
          <p:cNvPr id="3" name="milestone-pill"/>
          <p:cNvSpPr/>
          <p:nvPr/>
        </p:nvSpPr>
        <p:spPr>
          <a:xfrm>
            <a:off x="7818120" y="411480"/>
            <a:ext cx="868680"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7818120" y="411480"/>
            <a:ext cx="868680" cy="384048"/>
          </a:xfrm>
          <a:prstGeom prst="rect">
            <a:avLst/>
          </a:prstGeom>
          <a:noFill/>
          <a:ln/>
        </p:spPr>
        <p:txBody>
          <a:bodyPr wrap="square" lIns="0" tIns="0" rIns="0" bIns="0" rtlCol="0" anchor="ctr"/>
          <a:lstStyle/>
          <a:p>
            <a:pPr algn="ctr" indent="0" marL="0">
              <a:buNone/>
            </a:pPr>
            <a:r>
              <a:rPr lang="en-US" sz="1400" b="1" dirty="0">
                <a:solidFill>
                  <a:schemeClr val="bg1"/>
                </a:solidFill>
              </a:rPr>
              <a:t>M2–M4</a:t>
            </a:r>
            <a:endParaRPr lang="en-US" sz="1400" dirty="0"/>
          </a:p>
        </p:txBody>
      </p:sp>
      <p:sp>
        <p:nvSpPr>
          <p:cNvPr id="6" name="card"/>
          <p:cNvSpPr/>
          <p:nvPr/>
        </p:nvSpPr>
        <p:spPr>
          <a:xfrm>
            <a:off x="457200" y="1188720"/>
            <a:ext cx="2606040" cy="1325880"/>
          </a:xfrm>
          <a:prstGeom prst="roundRect">
            <a:avLst>
              <a:gd name="adj" fmla="val 5517"/>
            </a:avLst>
          </a:prstGeom>
          <a:solidFill>
            <a:schemeClr val="bg2"/>
          </a:solidFill>
          <a:ln w="12700">
            <a:solidFill>
              <a:schemeClr val="bg2"/>
            </a:solidFill>
            <a:prstDash val="solid"/>
          </a:ln>
        </p:spPr>
      </p:sp>
      <p:sp>
        <p:nvSpPr>
          <p:cNvPr id="7" name="Text 4"/>
          <p:cNvSpPr txBox="1"/>
          <p:nvPr/>
        </p:nvSpPr>
        <p:spPr>
          <a:xfrm>
            <a:off x="640080" y="1261872"/>
            <a:ext cx="2240280" cy="73152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9</a:t>
            </a:r>
            <a:endParaRPr lang="en-US" sz="4400" dirty="0"/>
          </a:p>
        </p:txBody>
      </p:sp>
      <p:sp>
        <p:nvSpPr>
          <p:cNvPr id="8" name="Text 5"/>
          <p:cNvSpPr txBox="1"/>
          <p:nvPr/>
        </p:nvSpPr>
        <p:spPr>
          <a:xfrm>
            <a:off x="640080" y="2011680"/>
            <a:ext cx="2240280" cy="411480"/>
          </a:xfrm>
          <a:prstGeom prst="rect">
            <a:avLst/>
          </a:prstGeom>
          <a:noFill/>
          <a:ln/>
        </p:spPr>
        <p:txBody>
          <a:bodyPr wrap="square" lIns="0" tIns="0" rIns="0" bIns="0" rtlCol="0" anchor="ctr"/>
          <a:lstStyle/>
          <a:p>
            <a:pPr indent="0" marL="0">
              <a:buNone/>
            </a:pPr>
            <a:r>
              <a:rPr lang="en-US" sz="1300" dirty="0">
                <a:solidFill>
                  <a:schemeClr val="tx1"/>
                </a:solidFill>
              </a:rPr>
              <a:t>pytest tests over 6 endpoints</a:t>
            </a:r>
            <a:endParaRPr lang="en-US" sz="1300" dirty="0"/>
          </a:p>
        </p:txBody>
      </p:sp>
      <p:sp>
        <p:nvSpPr>
          <p:cNvPr id="9" name="card"/>
          <p:cNvSpPr/>
          <p:nvPr/>
        </p:nvSpPr>
        <p:spPr>
          <a:xfrm>
            <a:off x="3246120" y="1188720"/>
            <a:ext cx="2606040" cy="1325880"/>
          </a:xfrm>
          <a:prstGeom prst="roundRect">
            <a:avLst>
              <a:gd name="adj" fmla="val 5517"/>
            </a:avLst>
          </a:prstGeom>
          <a:solidFill>
            <a:schemeClr val="bg2"/>
          </a:solidFill>
          <a:ln w="12700">
            <a:solidFill>
              <a:schemeClr val="bg2"/>
            </a:solidFill>
            <a:prstDash val="solid"/>
          </a:ln>
        </p:spPr>
      </p:sp>
      <p:sp>
        <p:nvSpPr>
          <p:cNvPr id="10" name="Text 7"/>
          <p:cNvSpPr txBox="1"/>
          <p:nvPr/>
        </p:nvSpPr>
        <p:spPr>
          <a:xfrm>
            <a:off x="3429000" y="1261872"/>
            <a:ext cx="2240280" cy="73152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87%</a:t>
            </a:r>
            <a:endParaRPr lang="en-US" sz="4400" dirty="0"/>
          </a:p>
        </p:txBody>
      </p:sp>
      <p:sp>
        <p:nvSpPr>
          <p:cNvPr id="11" name="Text 8"/>
          <p:cNvSpPr txBox="1"/>
          <p:nvPr/>
        </p:nvSpPr>
        <p:spPr>
          <a:xfrm>
            <a:off x="3429000" y="2011680"/>
            <a:ext cx="2240280" cy="411480"/>
          </a:xfrm>
          <a:prstGeom prst="rect">
            <a:avLst/>
          </a:prstGeom>
          <a:noFill/>
          <a:ln/>
        </p:spPr>
        <p:txBody>
          <a:bodyPr wrap="square" lIns="0" tIns="0" rIns="0" bIns="0" rtlCol="0" anchor="ctr"/>
          <a:lstStyle/>
          <a:p>
            <a:pPr indent="0" marL="0">
              <a:buNone/>
            </a:pPr>
            <a:r>
              <a:rPr lang="en-US" sz="1300" dirty="0">
                <a:solidFill>
                  <a:schemeClr val="tx1"/>
                </a:solidFill>
              </a:rPr>
              <a:t>coverage, CI gate at 80%</a:t>
            </a:r>
            <a:endParaRPr lang="en-US" sz="1300" dirty="0"/>
          </a:p>
        </p:txBody>
      </p:sp>
      <p:sp>
        <p:nvSpPr>
          <p:cNvPr id="12" name="card"/>
          <p:cNvSpPr/>
          <p:nvPr/>
        </p:nvSpPr>
        <p:spPr>
          <a:xfrm>
            <a:off x="6035040" y="1188720"/>
            <a:ext cx="2606040" cy="1325880"/>
          </a:xfrm>
          <a:prstGeom prst="roundRect">
            <a:avLst>
              <a:gd name="adj" fmla="val 5517"/>
            </a:avLst>
          </a:prstGeom>
          <a:solidFill>
            <a:schemeClr val="bg2"/>
          </a:solidFill>
          <a:ln w="12700">
            <a:solidFill>
              <a:schemeClr val="bg2"/>
            </a:solidFill>
            <a:prstDash val="solid"/>
          </a:ln>
        </p:spPr>
      </p:sp>
      <p:sp>
        <p:nvSpPr>
          <p:cNvPr id="13" name="Text 10"/>
          <p:cNvSpPr txBox="1"/>
          <p:nvPr/>
        </p:nvSpPr>
        <p:spPr>
          <a:xfrm>
            <a:off x="6217920" y="1261872"/>
            <a:ext cx="2240280" cy="73152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3</a:t>
            </a:r>
            <a:endParaRPr lang="en-US" sz="4400" dirty="0"/>
          </a:p>
        </p:txBody>
      </p:sp>
      <p:sp>
        <p:nvSpPr>
          <p:cNvPr id="14" name="Text 11"/>
          <p:cNvSpPr txBox="1"/>
          <p:nvPr/>
        </p:nvSpPr>
        <p:spPr>
          <a:xfrm>
            <a:off x="6217920" y="2011680"/>
            <a:ext cx="2240280" cy="411480"/>
          </a:xfrm>
          <a:prstGeom prst="rect">
            <a:avLst/>
          </a:prstGeom>
          <a:noFill/>
          <a:ln/>
        </p:spPr>
        <p:txBody>
          <a:bodyPr wrap="square" lIns="0" tIns="0" rIns="0" bIns="0" rtlCol="0" anchor="ctr"/>
          <a:lstStyle/>
          <a:p>
            <a:pPr indent="0" marL="0">
              <a:buNone/>
            </a:pPr>
            <a:r>
              <a:rPr lang="en-US" sz="1300" dirty="0">
                <a:solidFill>
                  <a:schemeClr val="tx1"/>
                </a:solidFill>
              </a:rPr>
              <a:t>Python versions in the test matrix</a:t>
            </a:r>
            <a:endParaRPr lang="en-US" sz="1300" dirty="0"/>
          </a:p>
        </p:txBody>
      </p:sp>
      <p:sp>
        <p:nvSpPr>
          <p:cNvPr id="15" name="Text 12"/>
          <p:cNvSpPr txBox="1"/>
          <p:nvPr/>
        </p:nvSpPr>
        <p:spPr>
          <a:xfrm>
            <a:off x="457200" y="2788920"/>
            <a:ext cx="3931920" cy="292608"/>
          </a:xfrm>
          <a:prstGeom prst="rect">
            <a:avLst/>
          </a:prstGeom>
          <a:noFill/>
          <a:ln/>
        </p:spPr>
        <p:txBody>
          <a:bodyPr wrap="square" lIns="0" tIns="0" rIns="0" bIns="0" rtlCol="0" anchor="ctr"/>
          <a:lstStyle/>
          <a:p>
            <a:pPr indent="0" marL="0">
              <a:buNone/>
            </a:pPr>
            <a:r>
              <a:rPr lang="en-US" sz="1500" b="1" dirty="0">
                <a:solidFill>
                  <a:schemeClr val="tx2"/>
                </a:solidFill>
              </a:rPr>
              <a:t>Docker</a:t>
            </a:r>
            <a:endParaRPr lang="en-US" sz="1500" dirty="0"/>
          </a:p>
        </p:txBody>
      </p:sp>
      <p:sp>
        <p:nvSpPr>
          <p:cNvPr id="16" name="Text 13"/>
          <p:cNvSpPr txBox="1"/>
          <p:nvPr/>
        </p:nvSpPr>
        <p:spPr>
          <a:xfrm>
            <a:off x="457200" y="3154680"/>
            <a:ext cx="3931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Backend: python:3.12-slim, runs as uid 10001, HEALTHCHECK on /api/live</a:t>
            </a:r>
            <a:endParaRPr lang="en-US" sz="1300" dirty="0"/>
          </a:p>
          <a:p>
            <a:pPr marL="342900" indent="-342900">
              <a:spcAft>
                <a:spcPts val="600"/>
              </a:spcAft>
              <a:buSzPct val="100000"/>
              <a:buChar char="•"/>
            </a:pPr>
            <a:r>
              <a:rPr lang="en-US" sz="1300" dirty="0">
                <a:solidFill>
                  <a:schemeClr val="tx1"/>
                </a:solidFill>
              </a:rPr>
              <a:t>Frontend: multi-stage, node:20 builds, nginx-unprivileged serves on 8080</a:t>
            </a:r>
            <a:endParaRPr lang="en-US" sz="1300" dirty="0"/>
          </a:p>
        </p:txBody>
      </p:sp>
      <p:sp>
        <p:nvSpPr>
          <p:cNvPr id="17" name="Text 14"/>
          <p:cNvSpPr txBox="1"/>
          <p:nvPr/>
        </p:nvSpPr>
        <p:spPr>
          <a:xfrm>
            <a:off x="4754880" y="2788920"/>
            <a:ext cx="3931920" cy="292608"/>
          </a:xfrm>
          <a:prstGeom prst="rect">
            <a:avLst/>
          </a:prstGeom>
          <a:noFill/>
          <a:ln/>
        </p:spPr>
        <p:txBody>
          <a:bodyPr wrap="square" lIns="0" tIns="0" rIns="0" bIns="0" rtlCol="0" anchor="ctr"/>
          <a:lstStyle/>
          <a:p>
            <a:pPr indent="0" marL="0">
              <a:buNone/>
            </a:pPr>
            <a:r>
              <a:rPr lang="en-US" sz="1500" b="1" dirty="0">
                <a:solidFill>
                  <a:schemeClr val="tx2"/>
                </a:solidFill>
              </a:rPr>
              <a:t>docker compose</a:t>
            </a:r>
            <a:endParaRPr lang="en-US" sz="1500" dirty="0"/>
          </a:p>
        </p:txBody>
      </p:sp>
      <p:sp>
        <p:nvSpPr>
          <p:cNvPr id="18" name="Text 15"/>
          <p:cNvSpPr txBox="1"/>
          <p:nvPr/>
        </p:nvSpPr>
        <p:spPr>
          <a:xfrm>
            <a:off x="4754880" y="3154680"/>
            <a:ext cx="3931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db → backend → frontend start order gated on healthchecks</a:t>
            </a:r>
            <a:endParaRPr lang="en-US" sz="1300" dirty="0"/>
          </a:p>
          <a:p>
            <a:pPr marL="342900" indent="-342900">
              <a:spcAft>
                <a:spcPts val="600"/>
              </a:spcAft>
              <a:buSzPct val="100000"/>
              <a:buChar char="•"/>
            </a:pPr>
            <a:r>
              <a:rPr lang="en-US" sz="1300" dirty="0">
                <a:solidFill>
                  <a:schemeClr val="tx1"/>
                </a:solidFill>
              </a:rPr>
              <a:t>Two networks: the frontend cannot reach Postgres</a:t>
            </a:r>
            <a:endParaRPr lang="en-US" sz="1300" dirty="0"/>
          </a:p>
          <a:p>
            <a:pPr marL="342900" indent="-342900">
              <a:spcAft>
                <a:spcPts val="600"/>
              </a:spcAft>
              <a:buSzPct val="100000"/>
              <a:buChar char="•"/>
            </a:pPr>
            <a:r>
              <a:rPr lang="en-US" sz="1300" dirty="0">
                <a:solidFill>
                  <a:schemeClr val="tx1"/>
                </a:solidFill>
              </a:rPr>
              <a:t>Named volume pgdata keeps data across restarts</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lIns="0" tIns="0" rIns="0" bIns="0" rtlCol="0" anchor="ctr"/>
          <a:lstStyle/>
          <a:p>
            <a:pPr algn="l" indent="0" marL="0">
              <a:buNone/>
            </a:pPr>
            <a:r>
              <a:rPr lang="en-US" sz="3200" b="1" dirty="0">
                <a:solidFill>
                  <a:schemeClr val="tx2"/>
                </a:solidFill>
              </a:rPr>
              <a:t>CI pipeline on every push</a:t>
            </a:r>
            <a:endParaRPr lang="en-US" sz="3200" dirty="0"/>
          </a:p>
        </p:txBody>
      </p:sp>
      <p:sp>
        <p:nvSpPr>
          <p:cNvPr id="3" name="milestone-pill"/>
          <p:cNvSpPr/>
          <p:nvPr/>
        </p:nvSpPr>
        <p:spPr>
          <a:xfrm>
            <a:off x="7818120" y="411480"/>
            <a:ext cx="868680"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7818120" y="411480"/>
            <a:ext cx="868680" cy="384048"/>
          </a:xfrm>
          <a:prstGeom prst="rect">
            <a:avLst/>
          </a:prstGeom>
          <a:noFill/>
          <a:ln/>
        </p:spPr>
        <p:txBody>
          <a:bodyPr wrap="square" lIns="0" tIns="0" rIns="0" bIns="0" rtlCol="0" anchor="ctr"/>
          <a:lstStyle/>
          <a:p>
            <a:pPr algn="ctr" indent="0" marL="0">
              <a:buNone/>
            </a:pPr>
            <a:r>
              <a:rPr lang="en-US" sz="1400" b="1" dirty="0">
                <a:solidFill>
                  <a:schemeClr val="bg1"/>
                </a:solidFill>
              </a:rPr>
              <a:t>M5</a:t>
            </a:r>
            <a:endParaRPr lang="en-US" sz="1400" dirty="0"/>
          </a:p>
        </p:txBody>
      </p:sp>
      <p:sp>
        <p:nvSpPr>
          <p:cNvPr id="6" name="Shape 3"/>
          <p:cNvSpPr/>
          <p:nvPr/>
        </p:nvSpPr>
        <p:spPr>
          <a:xfrm>
            <a:off x="457200" y="1188720"/>
            <a:ext cx="411480" cy="411480"/>
          </a:xfrm>
          <a:prstGeom prst="ellipse">
            <a:avLst/>
          </a:prstGeom>
          <a:solidFill>
            <a:schemeClr val="accent1"/>
          </a:solidFill>
          <a:ln w="12700">
            <a:solidFill>
              <a:schemeClr val="accent1"/>
            </a:solidFill>
            <a:prstDash val="solid"/>
          </a:ln>
        </p:spPr>
      </p:sp>
      <p:sp>
        <p:nvSpPr>
          <p:cNvPr id="7" name="Text 4"/>
          <p:cNvSpPr txBox="1"/>
          <p:nvPr/>
        </p:nvSpPr>
        <p:spPr>
          <a:xfrm>
            <a:off x="457200" y="118872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5"/>
          <p:cNvSpPr txBox="1"/>
          <p:nvPr/>
        </p:nvSpPr>
        <p:spPr>
          <a:xfrm>
            <a:off x="1005840" y="1143000"/>
            <a:ext cx="3017520" cy="292608"/>
          </a:xfrm>
          <a:prstGeom prst="rect">
            <a:avLst/>
          </a:prstGeom>
          <a:noFill/>
          <a:ln/>
        </p:spPr>
        <p:txBody>
          <a:bodyPr wrap="square" lIns="0" tIns="0" rIns="0" bIns="0" rtlCol="0" anchor="ctr"/>
          <a:lstStyle/>
          <a:p>
            <a:pPr indent="0" marL="0">
              <a:buNone/>
            </a:pPr>
            <a:r>
              <a:rPr lang="en-US" sz="1500" b="1" dirty="0">
                <a:solidFill>
                  <a:schemeClr val="tx2"/>
                </a:solidFill>
              </a:rPr>
              <a:t>lint</a:t>
            </a:r>
            <a:endParaRPr lang="en-US" sz="1500" dirty="0"/>
          </a:p>
        </p:txBody>
      </p:sp>
      <p:sp>
        <p:nvSpPr>
          <p:cNvPr id="9" name="Text 6"/>
          <p:cNvSpPr txBox="1"/>
          <p:nvPr/>
        </p:nvSpPr>
        <p:spPr>
          <a:xfrm>
            <a:off x="1005840" y="1417320"/>
            <a:ext cx="3108960" cy="365760"/>
          </a:xfrm>
          <a:prstGeom prst="rect">
            <a:avLst/>
          </a:prstGeom>
          <a:noFill/>
          <a:ln/>
        </p:spPr>
        <p:txBody>
          <a:bodyPr wrap="square" lIns="0" tIns="0" rIns="0" bIns="0" rtlCol="0" anchor="t"/>
          <a:lstStyle/>
          <a:p>
            <a:pPr indent="0" marL="0">
              <a:buNone/>
            </a:pPr>
            <a:r>
              <a:rPr lang="en-US" sz="1200" dirty="0">
                <a:solidFill>
                  <a:schemeClr val="tx1"/>
                </a:solidFill>
              </a:rPr>
              <a:t>flake8 · hadolint · helm lint · terraform validate</a:t>
            </a:r>
            <a:endParaRPr lang="en-US" sz="1200" dirty="0"/>
          </a:p>
        </p:txBody>
      </p:sp>
      <p:sp>
        <p:nvSpPr>
          <p:cNvPr id="10" name="Shape 7"/>
          <p:cNvSpPr/>
          <p:nvPr/>
        </p:nvSpPr>
        <p:spPr>
          <a:xfrm>
            <a:off x="457200" y="1892808"/>
            <a:ext cx="411480" cy="411480"/>
          </a:xfrm>
          <a:prstGeom prst="ellipse">
            <a:avLst/>
          </a:prstGeom>
          <a:solidFill>
            <a:schemeClr val="accent1"/>
          </a:solidFill>
          <a:ln w="12700">
            <a:solidFill>
              <a:schemeClr val="accent1"/>
            </a:solidFill>
            <a:prstDash val="solid"/>
          </a:ln>
        </p:spPr>
      </p:sp>
      <p:sp>
        <p:nvSpPr>
          <p:cNvPr id="11" name="Text 8"/>
          <p:cNvSpPr txBox="1"/>
          <p:nvPr/>
        </p:nvSpPr>
        <p:spPr>
          <a:xfrm>
            <a:off x="457200" y="1892808"/>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9"/>
          <p:cNvSpPr txBox="1"/>
          <p:nvPr/>
        </p:nvSpPr>
        <p:spPr>
          <a:xfrm>
            <a:off x="1005840" y="1847088"/>
            <a:ext cx="3017520" cy="292608"/>
          </a:xfrm>
          <a:prstGeom prst="rect">
            <a:avLst/>
          </a:prstGeom>
          <a:noFill/>
          <a:ln/>
        </p:spPr>
        <p:txBody>
          <a:bodyPr wrap="square" lIns="0" tIns="0" rIns="0" bIns="0" rtlCol="0" anchor="ctr"/>
          <a:lstStyle/>
          <a:p>
            <a:pPr indent="0" marL="0">
              <a:buNone/>
            </a:pPr>
            <a:r>
              <a:rPr lang="en-US" sz="1500" b="1" dirty="0">
                <a:solidFill>
                  <a:schemeClr val="tx2"/>
                </a:solidFill>
              </a:rPr>
              <a:t>test</a:t>
            </a:r>
            <a:endParaRPr lang="en-US" sz="1500" dirty="0"/>
          </a:p>
        </p:txBody>
      </p:sp>
      <p:sp>
        <p:nvSpPr>
          <p:cNvPr id="13" name="Text 10"/>
          <p:cNvSpPr txBox="1"/>
          <p:nvPr/>
        </p:nvSpPr>
        <p:spPr>
          <a:xfrm>
            <a:off x="1005840" y="2121408"/>
            <a:ext cx="3108960" cy="365760"/>
          </a:xfrm>
          <a:prstGeom prst="rect">
            <a:avLst/>
          </a:prstGeom>
          <a:noFill/>
          <a:ln/>
        </p:spPr>
        <p:txBody>
          <a:bodyPr wrap="square" lIns="0" tIns="0" rIns="0" bIns="0" rtlCol="0" anchor="t"/>
          <a:lstStyle/>
          <a:p>
            <a:pPr indent="0" marL="0">
              <a:buNone/>
            </a:pPr>
            <a:r>
              <a:rPr lang="en-US" sz="1200" dirty="0">
                <a:solidFill>
                  <a:schemeClr val="tx1"/>
                </a:solidFill>
              </a:rPr>
              <a:t>pytest on 3.11 / 3.12 / 3.13, 80% gate</a:t>
            </a:r>
            <a:endParaRPr lang="en-US" sz="1200" dirty="0"/>
          </a:p>
        </p:txBody>
      </p:sp>
      <p:sp>
        <p:nvSpPr>
          <p:cNvPr id="14" name="Shape 11"/>
          <p:cNvSpPr/>
          <p:nvPr/>
        </p:nvSpPr>
        <p:spPr>
          <a:xfrm>
            <a:off x="457200" y="2596896"/>
            <a:ext cx="411480" cy="411480"/>
          </a:xfrm>
          <a:prstGeom prst="ellipse">
            <a:avLst/>
          </a:prstGeom>
          <a:solidFill>
            <a:schemeClr val="accent1"/>
          </a:solidFill>
          <a:ln w="12700">
            <a:solidFill>
              <a:schemeClr val="accent1"/>
            </a:solidFill>
            <a:prstDash val="solid"/>
          </a:ln>
        </p:spPr>
      </p:sp>
      <p:sp>
        <p:nvSpPr>
          <p:cNvPr id="15" name="Text 12"/>
          <p:cNvSpPr txBox="1"/>
          <p:nvPr/>
        </p:nvSpPr>
        <p:spPr>
          <a:xfrm>
            <a:off x="457200" y="2596896"/>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3"/>
          <p:cNvSpPr txBox="1"/>
          <p:nvPr/>
        </p:nvSpPr>
        <p:spPr>
          <a:xfrm>
            <a:off x="1005840" y="2551176"/>
            <a:ext cx="3017520" cy="292608"/>
          </a:xfrm>
          <a:prstGeom prst="rect">
            <a:avLst/>
          </a:prstGeom>
          <a:noFill/>
          <a:ln/>
        </p:spPr>
        <p:txBody>
          <a:bodyPr wrap="square" lIns="0" tIns="0" rIns="0" bIns="0" rtlCol="0" anchor="ctr"/>
          <a:lstStyle/>
          <a:p>
            <a:pPr indent="0" marL="0">
              <a:buNone/>
            </a:pPr>
            <a:r>
              <a:rPr lang="en-US" sz="1500" b="1" dirty="0">
                <a:solidFill>
                  <a:schemeClr val="tx2"/>
                </a:solidFill>
              </a:rPr>
              <a:t>frontend-build</a:t>
            </a:r>
            <a:endParaRPr lang="en-US" sz="1500" dirty="0"/>
          </a:p>
        </p:txBody>
      </p:sp>
      <p:sp>
        <p:nvSpPr>
          <p:cNvPr id="17" name="Text 14"/>
          <p:cNvSpPr txBox="1"/>
          <p:nvPr/>
        </p:nvSpPr>
        <p:spPr>
          <a:xfrm>
            <a:off x="1005840" y="2825496"/>
            <a:ext cx="3108960" cy="365760"/>
          </a:xfrm>
          <a:prstGeom prst="rect">
            <a:avLst/>
          </a:prstGeom>
          <a:noFill/>
          <a:ln/>
        </p:spPr>
        <p:txBody>
          <a:bodyPr wrap="square" lIns="0" tIns="0" rIns="0" bIns="0" rtlCol="0" anchor="t"/>
          <a:lstStyle/>
          <a:p>
            <a:pPr indent="0" marL="0">
              <a:buNone/>
            </a:pPr>
            <a:r>
              <a:rPr lang="en-US" sz="1200" dirty="0">
                <a:solidFill>
                  <a:schemeClr val="tx1"/>
                </a:solidFill>
              </a:rPr>
              <a:t>npm run build</a:t>
            </a:r>
            <a:endParaRPr lang="en-US" sz="1200" dirty="0"/>
          </a:p>
        </p:txBody>
      </p:sp>
      <p:sp>
        <p:nvSpPr>
          <p:cNvPr id="18" name="Shape 15"/>
          <p:cNvSpPr/>
          <p:nvPr/>
        </p:nvSpPr>
        <p:spPr>
          <a:xfrm>
            <a:off x="457200" y="3300984"/>
            <a:ext cx="411480" cy="411480"/>
          </a:xfrm>
          <a:prstGeom prst="ellipse">
            <a:avLst/>
          </a:prstGeom>
          <a:solidFill>
            <a:schemeClr val="accent2"/>
          </a:solidFill>
          <a:ln w="12700">
            <a:solidFill>
              <a:schemeClr val="accent2"/>
            </a:solidFill>
            <a:prstDash val="solid"/>
          </a:ln>
        </p:spPr>
      </p:sp>
      <p:sp>
        <p:nvSpPr>
          <p:cNvPr id="19" name="Text 16"/>
          <p:cNvSpPr txBox="1"/>
          <p:nvPr/>
        </p:nvSpPr>
        <p:spPr>
          <a:xfrm>
            <a:off x="457200" y="3300984"/>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7"/>
          <p:cNvSpPr txBox="1"/>
          <p:nvPr/>
        </p:nvSpPr>
        <p:spPr>
          <a:xfrm>
            <a:off x="1005840" y="3255264"/>
            <a:ext cx="3017520" cy="292608"/>
          </a:xfrm>
          <a:prstGeom prst="rect">
            <a:avLst/>
          </a:prstGeom>
          <a:noFill/>
          <a:ln/>
        </p:spPr>
        <p:txBody>
          <a:bodyPr wrap="square" lIns="0" tIns="0" rIns="0" bIns="0" rtlCol="0" anchor="ctr"/>
          <a:lstStyle/>
          <a:p>
            <a:pPr indent="0" marL="0">
              <a:buNone/>
            </a:pPr>
            <a:r>
              <a:rPr lang="en-US" sz="1500" b="1" dirty="0">
                <a:solidFill>
                  <a:schemeClr val="tx2"/>
                </a:solidFill>
              </a:rPr>
              <a:t>build</a:t>
            </a:r>
            <a:endParaRPr lang="en-US" sz="1500" dirty="0"/>
          </a:p>
        </p:txBody>
      </p:sp>
      <p:sp>
        <p:nvSpPr>
          <p:cNvPr id="21" name="Text 18"/>
          <p:cNvSpPr txBox="1"/>
          <p:nvPr/>
        </p:nvSpPr>
        <p:spPr>
          <a:xfrm>
            <a:off x="1005840" y="3529584"/>
            <a:ext cx="3108960" cy="365760"/>
          </a:xfrm>
          <a:prstGeom prst="rect">
            <a:avLst/>
          </a:prstGeom>
          <a:noFill/>
          <a:ln/>
        </p:spPr>
        <p:txBody>
          <a:bodyPr wrap="square" lIns="0" tIns="0" rIns="0" bIns="0" rtlCol="0" anchor="t"/>
          <a:lstStyle/>
          <a:p>
            <a:pPr indent="0" marL="0">
              <a:buNone/>
            </a:pPr>
            <a:r>
              <a:rPr lang="en-US" sz="1200" dirty="0">
                <a:solidFill>
                  <a:schemeClr val="tx1"/>
                </a:solidFill>
              </a:rPr>
              <a:t>buildx → Trivy → push to GHCR</a:t>
            </a:r>
            <a:endParaRPr lang="en-US" sz="1200" dirty="0"/>
          </a:p>
        </p:txBody>
      </p:sp>
      <p:sp>
        <p:nvSpPr>
          <p:cNvPr id="22" name="Shape 19"/>
          <p:cNvSpPr/>
          <p:nvPr/>
        </p:nvSpPr>
        <p:spPr>
          <a:xfrm>
            <a:off x="457200" y="4005072"/>
            <a:ext cx="411480" cy="411480"/>
          </a:xfrm>
          <a:prstGeom prst="ellipse">
            <a:avLst/>
          </a:prstGeom>
          <a:solidFill>
            <a:schemeClr val="accent1"/>
          </a:solidFill>
          <a:ln w="12700">
            <a:solidFill>
              <a:schemeClr val="accent1"/>
            </a:solidFill>
            <a:prstDash val="solid"/>
          </a:ln>
        </p:spPr>
      </p:sp>
      <p:sp>
        <p:nvSpPr>
          <p:cNvPr id="23" name="Text 20"/>
          <p:cNvSpPr txBox="1"/>
          <p:nvPr/>
        </p:nvSpPr>
        <p:spPr>
          <a:xfrm>
            <a:off x="457200" y="4005072"/>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4" name="Text 21"/>
          <p:cNvSpPr txBox="1"/>
          <p:nvPr/>
        </p:nvSpPr>
        <p:spPr>
          <a:xfrm>
            <a:off x="1005840" y="3959352"/>
            <a:ext cx="3017520" cy="292608"/>
          </a:xfrm>
          <a:prstGeom prst="rect">
            <a:avLst/>
          </a:prstGeom>
          <a:noFill/>
          <a:ln/>
        </p:spPr>
        <p:txBody>
          <a:bodyPr wrap="square" lIns="0" tIns="0" rIns="0" bIns="0" rtlCol="0" anchor="ctr"/>
          <a:lstStyle/>
          <a:p>
            <a:pPr indent="0" marL="0">
              <a:buNone/>
            </a:pPr>
            <a:r>
              <a:rPr lang="en-US" sz="1500" b="1" dirty="0">
                <a:solidFill>
                  <a:schemeClr val="tx2"/>
                </a:solidFill>
              </a:rPr>
              <a:t>integration</a:t>
            </a:r>
            <a:endParaRPr lang="en-US" sz="1500" dirty="0"/>
          </a:p>
        </p:txBody>
      </p:sp>
      <p:sp>
        <p:nvSpPr>
          <p:cNvPr id="25" name="Text 22"/>
          <p:cNvSpPr txBox="1"/>
          <p:nvPr/>
        </p:nvSpPr>
        <p:spPr>
          <a:xfrm>
            <a:off x="1005840" y="4233672"/>
            <a:ext cx="3108960" cy="365760"/>
          </a:xfrm>
          <a:prstGeom prst="rect">
            <a:avLst/>
          </a:prstGeom>
          <a:noFill/>
          <a:ln/>
        </p:spPr>
        <p:txBody>
          <a:bodyPr wrap="square" lIns="0" tIns="0" rIns="0" bIns="0" rtlCol="0" anchor="t"/>
          <a:lstStyle/>
          <a:p>
            <a:pPr indent="0" marL="0">
              <a:buNone/>
            </a:pPr>
            <a:r>
              <a:rPr lang="en-US" sz="1200" dirty="0">
                <a:solidFill>
                  <a:schemeClr val="tx1"/>
                </a:solidFill>
              </a:rPr>
              <a:t>compose up from pushed images + smoke test</a:t>
            </a:r>
            <a:endParaRPr lang="en-US" sz="1200" dirty="0"/>
          </a:p>
        </p:txBody>
      </p:sp>
      <p:sp>
        <p:nvSpPr>
          <p:cNvPr id="26" name="Shape 23"/>
          <p:cNvSpPr/>
          <p:nvPr/>
        </p:nvSpPr>
        <p:spPr>
          <a:xfrm>
            <a:off x="4315968" y="1161288"/>
            <a:ext cx="4398264" cy="2428866"/>
          </a:xfrm>
          <a:prstGeom prst="rect">
            <a:avLst/>
          </a:prstGeom>
          <a:solidFill>
            <a:srgbClr val="D5DDE3"/>
          </a:solidFill>
          <a:ln w="12700">
            <a:solidFill>
              <a:srgbClr val="D5DDE3"/>
            </a:solidFill>
            <a:prstDash val="solid"/>
          </a:ln>
          <a:effectLst>
            <a:outerShdw sx="100000" sy="100000" kx="0" ky="0" algn="bl" rotWithShape="0" blurRad="76200" dist="25400" dir="5400000">
              <a:srgbClr val="000000">
                <a:alpha val="18000"/>
              </a:srgbClr>
            </a:outerShdw>
          </a:effectLst>
        </p:spPr>
      </p:sp>
      <p:pic>
        <p:nvPicPr>
          <p:cNvPr id="27" name="Image 0" descr="Green CI run in GitHub Actions">    </p:cNvPr>
          <p:cNvPicPr>
            <a:picLocks noChangeAspect="1"/>
          </p:cNvPicPr>
          <p:nvPr/>
        </p:nvPicPr>
        <p:blipFill>
          <a:blip r:embed="rId1"/>
          <a:stretch>
            <a:fillRect/>
          </a:stretch>
        </p:blipFill>
        <p:spPr>
          <a:xfrm>
            <a:off x="4343400" y="1188720"/>
            <a:ext cx="4343400" cy="2374002"/>
          </a:xfrm>
          <a:prstGeom prst="rect">
            <a:avLst/>
          </a:prstGeom>
        </p:spPr>
      </p:pic>
      <p:sp>
        <p:nvSpPr>
          <p:cNvPr id="28" name="Text 24"/>
          <p:cNvSpPr txBox="1"/>
          <p:nvPr/>
        </p:nvSpPr>
        <p:spPr>
          <a:xfrm>
            <a:off x="4343400" y="3657600"/>
            <a:ext cx="4343400" cy="274320"/>
          </a:xfrm>
          <a:prstGeom prst="rect">
            <a:avLst/>
          </a:prstGeom>
          <a:noFill/>
          <a:ln/>
        </p:spPr>
        <p:txBody>
          <a:bodyPr wrap="square" lIns="0" tIns="0" rIns="0" bIns="0" rtlCol="0" anchor="ctr"/>
          <a:lstStyle/>
          <a:p>
            <a:pPr indent="0" marL="0">
              <a:buNone/>
            </a:pPr>
            <a:r>
              <a:rPr lang="en-US" sz="1100" i="1" dirty="0">
                <a:solidFill>
                  <a:schemeClr val="accent5"/>
                </a:solidFill>
              </a:rPr>
              <a:t>A green CI run: every job passed and both images were pushed</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lIns="0" tIns="0" rIns="0" bIns="0" rtlCol="0" anchor="ctr"/>
          <a:lstStyle/>
          <a:p>
            <a:pPr algn="l" indent="0" marL="0">
              <a:buNone/>
            </a:pPr>
            <a:r>
              <a:rPr lang="en-US" sz="3200" b="1" dirty="0">
                <a:solidFill>
                  <a:schemeClr val="tx2"/>
                </a:solidFill>
              </a:rPr>
              <a:t>DevSecOps: the Trivy gate fired</a:t>
            </a:r>
            <a:endParaRPr lang="en-US" sz="3200" dirty="0"/>
          </a:p>
        </p:txBody>
      </p:sp>
      <p:sp>
        <p:nvSpPr>
          <p:cNvPr id="3" name="milestone-pill"/>
          <p:cNvSpPr/>
          <p:nvPr/>
        </p:nvSpPr>
        <p:spPr>
          <a:xfrm>
            <a:off x="7818120" y="411480"/>
            <a:ext cx="868680"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7818120" y="411480"/>
            <a:ext cx="868680" cy="384048"/>
          </a:xfrm>
          <a:prstGeom prst="rect">
            <a:avLst/>
          </a:prstGeom>
          <a:noFill/>
          <a:ln/>
        </p:spPr>
        <p:txBody>
          <a:bodyPr wrap="square" lIns="0" tIns="0" rIns="0" bIns="0" rtlCol="0" anchor="ctr"/>
          <a:lstStyle/>
          <a:p>
            <a:pPr algn="ctr" indent="0" marL="0">
              <a:buNone/>
            </a:pPr>
            <a:r>
              <a:rPr lang="en-US" sz="1400" b="1" dirty="0">
                <a:solidFill>
                  <a:schemeClr val="bg1"/>
                </a:solidFill>
              </a:rPr>
              <a:t>M6</a:t>
            </a:r>
            <a:endParaRPr lang="en-US" sz="1400" dirty="0"/>
          </a:p>
        </p:txBody>
      </p:sp>
      <p:sp>
        <p:nvSpPr>
          <p:cNvPr id="6" name="card"/>
          <p:cNvSpPr/>
          <p:nvPr/>
        </p:nvSpPr>
        <p:spPr>
          <a:xfrm>
            <a:off x="457200" y="1188720"/>
            <a:ext cx="4114800" cy="1188720"/>
          </a:xfrm>
          <a:prstGeom prst="roundRect">
            <a:avLst>
              <a:gd name="adj" fmla="val 6154"/>
            </a:avLst>
          </a:prstGeom>
          <a:solidFill>
            <a:schemeClr val="bg2"/>
          </a:solidFill>
          <a:ln w="12700">
            <a:solidFill>
              <a:schemeClr val="bg2"/>
            </a:solidFill>
            <a:prstDash val="solid"/>
          </a:ln>
        </p:spPr>
      </p:sp>
      <p:sp>
        <p:nvSpPr>
          <p:cNvPr id="7" name="Shape 4"/>
          <p:cNvSpPr/>
          <p:nvPr/>
        </p:nvSpPr>
        <p:spPr>
          <a:xfrm>
            <a:off x="640080" y="1371600"/>
            <a:ext cx="1051560" cy="329184"/>
          </a:xfrm>
          <a:prstGeom prst="roundRect">
            <a:avLst>
              <a:gd name="adj" fmla="val 50000"/>
            </a:avLst>
          </a:prstGeom>
          <a:solidFill>
            <a:schemeClr val="accent4"/>
          </a:solidFill>
          <a:ln w="12700">
            <a:solidFill>
              <a:schemeClr val="accent4"/>
            </a:solidFill>
            <a:prstDash val="solid"/>
          </a:ln>
        </p:spPr>
      </p:sp>
      <p:sp>
        <p:nvSpPr>
          <p:cNvPr id="8" name="Text 5"/>
          <p:cNvSpPr txBox="1"/>
          <p:nvPr/>
        </p:nvSpPr>
        <p:spPr>
          <a:xfrm>
            <a:off x="640080" y="137160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CRITICAL</a:t>
            </a:r>
            <a:endParaRPr lang="en-US" sz="1100" dirty="0"/>
          </a:p>
        </p:txBody>
      </p:sp>
      <p:sp>
        <p:nvSpPr>
          <p:cNvPr id="9" name="Text 6"/>
          <p:cNvSpPr txBox="1"/>
          <p:nvPr/>
        </p:nvSpPr>
        <p:spPr>
          <a:xfrm>
            <a:off x="1828800" y="1353312"/>
            <a:ext cx="2651760" cy="365760"/>
          </a:xfrm>
          <a:prstGeom prst="rect">
            <a:avLst/>
          </a:prstGeom>
          <a:noFill/>
          <a:ln/>
        </p:spPr>
        <p:txBody>
          <a:bodyPr wrap="square" lIns="0" tIns="0" rIns="0" bIns="0" rtlCol="0" anchor="ctr"/>
          <a:lstStyle/>
          <a:p>
            <a:pPr indent="0" marL="0">
              <a:buNone/>
            </a:pPr>
            <a:r>
              <a:rPr lang="en-US" sz="1800" b="1" dirty="0">
                <a:solidFill>
                  <a:schemeClr val="tx2"/>
                </a:solidFill>
              </a:rPr>
              <a:t>CVE-2026-31789</a:t>
            </a:r>
            <a:endParaRPr lang="en-US" sz="1800" dirty="0"/>
          </a:p>
        </p:txBody>
      </p:sp>
      <p:sp>
        <p:nvSpPr>
          <p:cNvPr id="10" name="Text 7"/>
          <p:cNvSpPr txBox="1"/>
          <p:nvPr/>
        </p:nvSpPr>
        <p:spPr>
          <a:xfrm>
            <a:off x="640080" y="1828800"/>
            <a:ext cx="3749040" cy="457200"/>
          </a:xfrm>
          <a:prstGeom prst="rect">
            <a:avLst/>
          </a:prstGeom>
          <a:noFill/>
          <a:ln/>
        </p:spPr>
        <p:txBody>
          <a:bodyPr wrap="square" lIns="0" tIns="0" rIns="0" bIns="0" rtlCol="0" anchor="t"/>
          <a:lstStyle/>
          <a:p>
            <a:pPr indent="0" marL="0">
              <a:buNone/>
            </a:pPr>
            <a:r>
              <a:rPr lang="en-US" sz="1300" dirty="0">
                <a:solidFill>
                  <a:schemeClr val="tx1"/>
                </a:solidFill>
              </a:rPr>
              <a:t>OpenSSL heap buffer overflow in libcrypto3 / libssl3 3.3.3</a:t>
            </a:r>
            <a:endParaRPr lang="en-US" sz="1300" dirty="0"/>
          </a:p>
        </p:txBody>
      </p:sp>
      <p:sp>
        <p:nvSpPr>
          <p:cNvPr id="11" name="card"/>
          <p:cNvSpPr/>
          <p:nvPr/>
        </p:nvSpPr>
        <p:spPr>
          <a:xfrm>
            <a:off x="457200" y="2560320"/>
            <a:ext cx="4114800" cy="1188720"/>
          </a:xfrm>
          <a:prstGeom prst="roundRect">
            <a:avLst>
              <a:gd name="adj" fmla="val 6154"/>
            </a:avLst>
          </a:prstGeom>
          <a:solidFill>
            <a:schemeClr val="bg2"/>
          </a:solidFill>
          <a:ln w="12700">
            <a:solidFill>
              <a:schemeClr val="bg2"/>
            </a:solidFill>
            <a:prstDash val="solid"/>
          </a:ln>
        </p:spPr>
      </p:sp>
      <p:sp>
        <p:nvSpPr>
          <p:cNvPr id="12" name="Shape 9"/>
          <p:cNvSpPr/>
          <p:nvPr/>
        </p:nvSpPr>
        <p:spPr>
          <a:xfrm>
            <a:off x="640080" y="2743200"/>
            <a:ext cx="1051560" cy="329184"/>
          </a:xfrm>
          <a:prstGeom prst="roundRect">
            <a:avLst>
              <a:gd name="adj" fmla="val 50000"/>
            </a:avLst>
          </a:prstGeom>
          <a:solidFill>
            <a:schemeClr val="accent2"/>
          </a:solidFill>
          <a:ln w="12700">
            <a:solidFill>
              <a:schemeClr val="accent2"/>
            </a:solidFill>
            <a:prstDash val="solid"/>
          </a:ln>
        </p:spPr>
      </p:sp>
      <p:sp>
        <p:nvSpPr>
          <p:cNvPr id="13" name="Text 10"/>
          <p:cNvSpPr txBox="1"/>
          <p:nvPr/>
        </p:nvSpPr>
        <p:spPr>
          <a:xfrm>
            <a:off x="640080" y="2743200"/>
            <a:ext cx="1051560" cy="329184"/>
          </a:xfrm>
          <a:prstGeom prst="rect">
            <a:avLst/>
          </a:prstGeom>
          <a:noFill/>
          <a:ln/>
        </p:spPr>
        <p:txBody>
          <a:bodyPr wrap="square" lIns="0" tIns="0" rIns="0" bIns="0" rtlCol="0" anchor="ctr"/>
          <a:lstStyle/>
          <a:p>
            <a:pPr algn="ctr" indent="0" marL="0">
              <a:buNone/>
            </a:pPr>
            <a:r>
              <a:rPr lang="en-US" sz="1100" b="1" dirty="0">
                <a:solidFill>
                  <a:schemeClr val="bg1"/>
                </a:solidFill>
              </a:rPr>
              <a:t>HIGH</a:t>
            </a:r>
            <a:endParaRPr lang="en-US" sz="1100" dirty="0"/>
          </a:p>
        </p:txBody>
      </p:sp>
      <p:sp>
        <p:nvSpPr>
          <p:cNvPr id="14" name="Text 11"/>
          <p:cNvSpPr txBox="1"/>
          <p:nvPr/>
        </p:nvSpPr>
        <p:spPr>
          <a:xfrm>
            <a:off x="1828800" y="2724912"/>
            <a:ext cx="2651760" cy="365760"/>
          </a:xfrm>
          <a:prstGeom prst="rect">
            <a:avLst/>
          </a:prstGeom>
          <a:noFill/>
          <a:ln/>
        </p:spPr>
        <p:txBody>
          <a:bodyPr wrap="square" lIns="0" tIns="0" rIns="0" bIns="0" rtlCol="0" anchor="ctr"/>
          <a:lstStyle/>
          <a:p>
            <a:pPr indent="0" marL="0">
              <a:buNone/>
            </a:pPr>
            <a:r>
              <a:rPr lang="en-US" sz="1800" b="1" dirty="0">
                <a:solidFill>
                  <a:schemeClr val="tx2"/>
                </a:solidFill>
              </a:rPr>
              <a:t>CVE-2026-33630</a:t>
            </a:r>
            <a:endParaRPr lang="en-US" sz="1800" dirty="0"/>
          </a:p>
        </p:txBody>
      </p:sp>
      <p:sp>
        <p:nvSpPr>
          <p:cNvPr id="15" name="Text 12"/>
          <p:cNvSpPr txBox="1"/>
          <p:nvPr/>
        </p:nvSpPr>
        <p:spPr>
          <a:xfrm>
            <a:off x="640080" y="3200400"/>
            <a:ext cx="3749040" cy="457200"/>
          </a:xfrm>
          <a:prstGeom prst="rect">
            <a:avLst/>
          </a:prstGeom>
          <a:noFill/>
          <a:ln/>
        </p:spPr>
        <p:txBody>
          <a:bodyPr wrap="square" lIns="0" tIns="0" rIns="0" bIns="0" rtlCol="0" anchor="t"/>
          <a:lstStyle/>
          <a:p>
            <a:pPr indent="0" marL="0">
              <a:buNone/>
            </a:pPr>
            <a:r>
              <a:rPr lang="en-US" sz="1300" dirty="0">
                <a:solidFill>
                  <a:schemeClr val="tx1"/>
                </a:solidFill>
              </a:rPr>
              <a:t>Use-after-free in c-ares</a:t>
            </a:r>
            <a:endParaRPr lang="en-US" sz="1300" dirty="0"/>
          </a:p>
        </p:txBody>
      </p:sp>
      <p:sp>
        <p:nvSpPr>
          <p:cNvPr id="16" name="Text 13"/>
          <p:cNvSpPr txBox="1"/>
          <p:nvPr/>
        </p:nvSpPr>
        <p:spPr>
          <a:xfrm>
            <a:off x="4937760" y="1188720"/>
            <a:ext cx="3749040" cy="292608"/>
          </a:xfrm>
          <a:prstGeom prst="rect">
            <a:avLst/>
          </a:prstGeom>
          <a:noFill/>
          <a:ln/>
        </p:spPr>
        <p:txBody>
          <a:bodyPr wrap="square" lIns="0" tIns="0" rIns="0" bIns="0" rtlCol="0" anchor="ctr"/>
          <a:lstStyle/>
          <a:p>
            <a:pPr indent="0" marL="0">
              <a:buNone/>
            </a:pPr>
            <a:r>
              <a:rPr lang="en-US" sz="1500" b="1" dirty="0">
                <a:solidFill>
                  <a:schemeClr val="tx2"/>
                </a:solidFill>
              </a:rPr>
              <a:t>What the gate did</a:t>
            </a:r>
            <a:endParaRPr lang="en-US" sz="1500" dirty="0"/>
          </a:p>
        </p:txBody>
      </p:sp>
      <p:sp>
        <p:nvSpPr>
          <p:cNvPr id="17" name="Text 14"/>
          <p:cNvSpPr txBox="1"/>
          <p:nvPr/>
        </p:nvSpPr>
        <p:spPr>
          <a:xfrm>
            <a:off x="4937760" y="1554480"/>
            <a:ext cx="374904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severity HIGH,CRITICAL · exit-code 1 · ignore-unfixed</a:t>
            </a:r>
            <a:endParaRPr lang="en-US" sz="1400" dirty="0"/>
          </a:p>
          <a:p>
            <a:pPr marL="342900" indent="-342900">
              <a:spcAft>
                <a:spcPts val="600"/>
              </a:spcAft>
              <a:buSzPct val="100000"/>
              <a:buChar char="•"/>
            </a:pPr>
            <a:r>
              <a:rPr lang="en-US" sz="1400" dirty="0">
                <a:solidFill>
                  <a:schemeClr val="tx1"/>
                </a:solidFill>
              </a:rPr>
              <a:t>Found both CVEs in nginx-unprivileged:1.27-alpine</a:t>
            </a:r>
            <a:endParaRPr lang="en-US" sz="1400" dirty="0"/>
          </a:p>
          <a:p>
            <a:pPr marL="342900" indent="-342900">
              <a:spcAft>
                <a:spcPts val="600"/>
              </a:spcAft>
              <a:buSzPct val="100000"/>
              <a:buChar char="•"/>
            </a:pPr>
            <a:r>
              <a:rPr lang="en-US" sz="1400" dirty="0">
                <a:solidFill>
                  <a:schemeClr val="tx1"/>
                </a:solidFill>
              </a:rPr>
              <a:t>Blocked the build: no image was pushed</a:t>
            </a:r>
            <a:endParaRPr lang="en-US" sz="1400" dirty="0"/>
          </a:p>
        </p:txBody>
      </p:sp>
      <p:sp>
        <p:nvSpPr>
          <p:cNvPr id="18" name="Text 15"/>
          <p:cNvSpPr txBox="1"/>
          <p:nvPr/>
        </p:nvSpPr>
        <p:spPr>
          <a:xfrm>
            <a:off x="4937760" y="2926080"/>
            <a:ext cx="3749040" cy="292608"/>
          </a:xfrm>
          <a:prstGeom prst="rect">
            <a:avLst/>
          </a:prstGeom>
          <a:noFill/>
          <a:ln/>
        </p:spPr>
        <p:txBody>
          <a:bodyPr wrap="square" lIns="0" tIns="0" rIns="0" bIns="0" rtlCol="0" anchor="ctr"/>
          <a:lstStyle/>
          <a:p>
            <a:pPr indent="0" marL="0">
              <a:buNone/>
            </a:pPr>
            <a:r>
              <a:rPr lang="en-US" sz="1500" b="1" dirty="0">
                <a:solidFill>
                  <a:schemeClr val="accent1"/>
                </a:solidFill>
              </a:rPr>
              <a:t>The fix</a:t>
            </a:r>
            <a:endParaRPr lang="en-US" sz="1500" dirty="0"/>
          </a:p>
        </p:txBody>
      </p:sp>
      <p:sp>
        <p:nvSpPr>
          <p:cNvPr id="19" name="Text 16"/>
          <p:cNvSpPr txBox="1"/>
          <p:nvPr/>
        </p:nvSpPr>
        <p:spPr>
          <a:xfrm>
            <a:off x="4937760" y="3291840"/>
            <a:ext cx="374904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Base image moved to 1.29-alpine + apk upgrade</a:t>
            </a:r>
            <a:endParaRPr lang="en-US" sz="1400" dirty="0"/>
          </a:p>
          <a:p>
            <a:pPr marL="342900" indent="-342900">
              <a:spcAft>
                <a:spcPts val="600"/>
              </a:spcAft>
              <a:buSzPct val="100000"/>
              <a:buChar char="•"/>
            </a:pPr>
            <a:r>
              <a:rPr lang="en-US" sz="1400" dirty="0">
                <a:solidFill>
                  <a:schemeClr val="tx1"/>
                </a:solidFill>
              </a:rPr>
              <a:t>Backend got the matching apt-get upgrade</a:t>
            </a:r>
            <a:endParaRPr lang="en-US" sz="1400" dirty="0"/>
          </a:p>
          <a:p>
            <a:pPr marL="342900" indent="-342900">
              <a:spcAft>
                <a:spcPts val="600"/>
              </a:spcAft>
              <a:buSzPct val="100000"/>
              <a:buChar char="•"/>
            </a:pPr>
            <a:r>
              <a:rPr lang="en-US" sz="1400" dirty="0">
                <a:solidFill>
                  <a:schemeClr val="tx1"/>
                </a:solidFill>
              </a:rPr>
              <a:t>Next run green; images pushed to GHCR</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lIns="0" tIns="0" rIns="0" bIns="0" rtlCol="0" anchor="ctr"/>
          <a:lstStyle/>
          <a:p>
            <a:pPr algn="l" indent="0" marL="0">
              <a:buNone/>
            </a:pPr>
            <a:r>
              <a:rPr lang="en-US" sz="3200" b="1" dirty="0">
                <a:solidFill>
                  <a:schemeClr val="tx2"/>
                </a:solidFill>
              </a:rPr>
              <a:t>Delivery traced to a commit</a:t>
            </a:r>
            <a:endParaRPr lang="en-US" sz="3200" dirty="0"/>
          </a:p>
        </p:txBody>
      </p:sp>
      <p:sp>
        <p:nvSpPr>
          <p:cNvPr id="3" name="milestone-pill"/>
          <p:cNvSpPr/>
          <p:nvPr/>
        </p:nvSpPr>
        <p:spPr>
          <a:xfrm>
            <a:off x="7818120" y="411480"/>
            <a:ext cx="868680"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7818120" y="411480"/>
            <a:ext cx="868680" cy="384048"/>
          </a:xfrm>
          <a:prstGeom prst="rect">
            <a:avLst/>
          </a:prstGeom>
          <a:noFill/>
          <a:ln/>
        </p:spPr>
        <p:txBody>
          <a:bodyPr wrap="square" lIns="0" tIns="0" rIns="0" bIns="0" rtlCol="0" anchor="ctr"/>
          <a:lstStyle/>
          <a:p>
            <a:pPr algn="ctr" indent="0" marL="0">
              <a:buNone/>
            </a:pPr>
            <a:r>
              <a:rPr lang="en-US" sz="1400" b="1" dirty="0">
                <a:solidFill>
                  <a:schemeClr val="bg1"/>
                </a:solidFill>
              </a:rPr>
              <a:t>M5</a:t>
            </a:r>
            <a:endParaRPr lang="en-US" sz="1400" dirty="0"/>
          </a:p>
        </p:txBody>
      </p:sp>
      <p:sp>
        <p:nvSpPr>
          <p:cNvPr id="6" name="Shape 3"/>
          <p:cNvSpPr/>
          <p:nvPr/>
        </p:nvSpPr>
        <p:spPr>
          <a:xfrm>
            <a:off x="429768" y="1161288"/>
            <a:ext cx="4032504" cy="2228950"/>
          </a:xfrm>
          <a:prstGeom prst="rect">
            <a:avLst/>
          </a:prstGeom>
          <a:solidFill>
            <a:srgbClr val="D5DDE3"/>
          </a:solidFill>
          <a:ln w="12700">
            <a:solidFill>
              <a:srgbClr val="D5DDE3"/>
            </a:solidFill>
            <a:prstDash val="solid"/>
          </a:ln>
          <a:effectLst>
            <a:outerShdw sx="100000" sy="100000" kx="0" ky="0" algn="bl" rotWithShape="0" blurRad="76200" dist="25400" dir="5400000">
              <a:srgbClr val="000000">
                <a:alpha val="18000"/>
              </a:srgbClr>
            </a:outerShdw>
          </a:effectLst>
        </p:spPr>
      </p:sp>
      <p:pic>
        <p:nvPicPr>
          <p:cNvPr id="7" name="Image 0" descr="GHCR package with sha tags">    </p:cNvPr>
          <p:cNvPicPr>
            <a:picLocks noChangeAspect="1"/>
          </p:cNvPicPr>
          <p:nvPr/>
        </p:nvPicPr>
        <p:blipFill>
          <a:blip r:embed="rId1"/>
          <a:stretch>
            <a:fillRect/>
          </a:stretch>
        </p:blipFill>
        <p:spPr>
          <a:xfrm>
            <a:off x="457200" y="1188720"/>
            <a:ext cx="3977640" cy="2174086"/>
          </a:xfrm>
          <a:prstGeom prst="rect">
            <a:avLst/>
          </a:prstGeom>
        </p:spPr>
      </p:pic>
      <p:sp>
        <p:nvSpPr>
          <p:cNvPr id="8" name="Shape 4"/>
          <p:cNvSpPr/>
          <p:nvPr/>
        </p:nvSpPr>
        <p:spPr>
          <a:xfrm>
            <a:off x="4681728" y="1161288"/>
            <a:ext cx="4032504" cy="2228950"/>
          </a:xfrm>
          <a:prstGeom prst="rect">
            <a:avLst/>
          </a:prstGeom>
          <a:solidFill>
            <a:srgbClr val="D5DDE3"/>
          </a:solidFill>
          <a:ln w="12700">
            <a:solidFill>
              <a:srgbClr val="D5DDE3"/>
            </a:solidFill>
            <a:prstDash val="solid"/>
          </a:ln>
          <a:effectLst>
            <a:outerShdw sx="100000" sy="100000" kx="0" ky="0" algn="bl" rotWithShape="0" blurRad="76200" dist="25400" dir="5400000">
              <a:srgbClr val="000000">
                <a:alpha val="18000"/>
              </a:srgbClr>
            </a:outerShdw>
          </a:effectLst>
        </p:spPr>
      </p:sp>
      <p:pic>
        <p:nvPicPr>
          <p:cNvPr id="9" name="Image 1" descr="Green CD run">    </p:cNvPr>
          <p:cNvPicPr>
            <a:picLocks noChangeAspect="1"/>
          </p:cNvPicPr>
          <p:nvPr/>
        </p:nvPicPr>
        <p:blipFill>
          <a:blip r:embed="rId2"/>
          <a:stretch>
            <a:fillRect/>
          </a:stretch>
        </p:blipFill>
        <p:spPr>
          <a:xfrm>
            <a:off x="4709160" y="1188720"/>
            <a:ext cx="3977640" cy="2174086"/>
          </a:xfrm>
          <a:prstGeom prst="rect">
            <a:avLst/>
          </a:prstGeom>
        </p:spPr>
      </p:pic>
      <p:sp>
        <p:nvSpPr>
          <p:cNvPr id="10" name="Text 5"/>
          <p:cNvSpPr txBox="1"/>
          <p:nvPr/>
        </p:nvSpPr>
        <p:spPr>
          <a:xfrm>
            <a:off x="457200" y="3454246"/>
            <a:ext cx="3977640" cy="274320"/>
          </a:xfrm>
          <a:prstGeom prst="rect">
            <a:avLst/>
          </a:prstGeom>
          <a:noFill/>
          <a:ln/>
        </p:spPr>
        <p:txBody>
          <a:bodyPr wrap="square" lIns="0" tIns="0" rIns="0" bIns="0" rtlCol="0" anchor="ctr"/>
          <a:lstStyle/>
          <a:p>
            <a:pPr indent="0" marL="0">
              <a:buNone/>
            </a:pPr>
            <a:r>
              <a:rPr lang="en-US" sz="1100" i="1" dirty="0">
                <a:solidFill>
                  <a:schemeClr val="accent5"/>
                </a:solidFill>
              </a:rPr>
              <a:t>GHCR: images tagged sha-&lt;commit&gt;</a:t>
            </a:r>
            <a:endParaRPr lang="en-US" sz="1100" dirty="0"/>
          </a:p>
        </p:txBody>
      </p:sp>
      <p:sp>
        <p:nvSpPr>
          <p:cNvPr id="11" name="Text 6"/>
          <p:cNvSpPr txBox="1"/>
          <p:nvPr/>
        </p:nvSpPr>
        <p:spPr>
          <a:xfrm>
            <a:off x="4709160" y="3454246"/>
            <a:ext cx="3977640" cy="274320"/>
          </a:xfrm>
          <a:prstGeom prst="rect">
            <a:avLst/>
          </a:prstGeom>
          <a:noFill/>
          <a:ln/>
        </p:spPr>
        <p:txBody>
          <a:bodyPr wrap="square" lIns="0" tIns="0" rIns="0" bIns="0" rtlCol="0" anchor="ctr"/>
          <a:lstStyle/>
          <a:p>
            <a:pPr indent="0" marL="0">
              <a:buNone/>
            </a:pPr>
            <a:r>
              <a:rPr lang="en-US" sz="1100" i="1" dirty="0">
                <a:solidFill>
                  <a:schemeClr val="accent5"/>
                </a:solidFill>
              </a:rPr>
              <a:t>CD: helm upgrade --install on kind, then smoke test</a:t>
            </a:r>
            <a:endParaRPr lang="en-US" sz="1100" dirty="0"/>
          </a:p>
        </p:txBody>
      </p:sp>
      <p:sp>
        <p:nvSpPr>
          <p:cNvPr id="12" name="Text 7"/>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400" dirty="0">
                <a:solidFill>
                  <a:schemeClr val="tx1"/>
                </a:solidFill>
              </a:rPr>
              <a:t>image.tag = sha-&lt;commit&gt;  →  any release can be reproduced, and helm rollback returns to a known image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lIns="0" tIns="0" rIns="0" bIns="0" rtlCol="0" anchor="ctr"/>
          <a:lstStyle/>
          <a:p>
            <a:pPr algn="l" indent="0" marL="0">
              <a:buNone/>
            </a:pPr>
            <a:r>
              <a:rPr lang="en-US" sz="3200" b="1" dirty="0">
                <a:solidFill>
                  <a:schemeClr val="tx2"/>
                </a:solidFill>
              </a:rPr>
              <a:t>Terraform on AWS</a:t>
            </a:r>
            <a:endParaRPr lang="en-US" sz="3200" dirty="0"/>
          </a:p>
        </p:txBody>
      </p:sp>
      <p:sp>
        <p:nvSpPr>
          <p:cNvPr id="3" name="milestone-pill"/>
          <p:cNvSpPr/>
          <p:nvPr/>
        </p:nvSpPr>
        <p:spPr>
          <a:xfrm>
            <a:off x="7818120" y="411480"/>
            <a:ext cx="868680"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7818120" y="411480"/>
            <a:ext cx="868680" cy="384048"/>
          </a:xfrm>
          <a:prstGeom prst="rect">
            <a:avLst/>
          </a:prstGeom>
          <a:noFill/>
          <a:ln/>
        </p:spPr>
        <p:txBody>
          <a:bodyPr wrap="square" lIns="0" tIns="0" rIns="0" bIns="0" rtlCol="0" anchor="ctr"/>
          <a:lstStyle/>
          <a:p>
            <a:pPr algn="ctr" indent="0" marL="0">
              <a:buNone/>
            </a:pPr>
            <a:r>
              <a:rPr lang="en-US" sz="1400" b="1" dirty="0">
                <a:solidFill>
                  <a:schemeClr val="bg1"/>
                </a:solidFill>
              </a:rPr>
              <a:t>M7</a:t>
            </a:r>
            <a:endParaRPr lang="en-US" sz="1400" dirty="0"/>
          </a:p>
        </p:txBody>
      </p:sp>
      <p:sp>
        <p:nvSpPr>
          <p:cNvPr id="6" name="card"/>
          <p:cNvSpPr/>
          <p:nvPr/>
        </p:nvSpPr>
        <p:spPr>
          <a:xfrm>
            <a:off x="457200" y="1188720"/>
            <a:ext cx="3017520" cy="960120"/>
          </a:xfrm>
          <a:prstGeom prst="roundRect">
            <a:avLst>
              <a:gd name="adj" fmla="val 7619"/>
            </a:avLst>
          </a:prstGeom>
          <a:solidFill>
            <a:schemeClr val="bg2"/>
          </a:solidFill>
          <a:ln w="12700">
            <a:solidFill>
              <a:schemeClr val="bg2"/>
            </a:solidFill>
            <a:prstDash val="solid"/>
          </a:ln>
        </p:spPr>
      </p:sp>
      <p:sp>
        <p:nvSpPr>
          <p:cNvPr id="7" name="Text 4"/>
          <p:cNvSpPr txBox="1"/>
          <p:nvPr/>
        </p:nvSpPr>
        <p:spPr>
          <a:xfrm>
            <a:off x="640080" y="1280160"/>
            <a:ext cx="1143000" cy="77724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26</a:t>
            </a:r>
            <a:endParaRPr lang="en-US" sz="3600" dirty="0"/>
          </a:p>
        </p:txBody>
      </p:sp>
      <p:sp>
        <p:nvSpPr>
          <p:cNvPr id="8" name="Text 5"/>
          <p:cNvSpPr txBox="1"/>
          <p:nvPr/>
        </p:nvSpPr>
        <p:spPr>
          <a:xfrm>
            <a:off x="1783080" y="1280160"/>
            <a:ext cx="1600200" cy="777240"/>
          </a:xfrm>
          <a:prstGeom prst="rect">
            <a:avLst/>
          </a:prstGeom>
          <a:noFill/>
          <a:ln/>
        </p:spPr>
        <p:txBody>
          <a:bodyPr wrap="square" lIns="0" tIns="0" rIns="0" bIns="0" rtlCol="0" anchor="ctr"/>
          <a:lstStyle/>
          <a:p>
            <a:pPr indent="0" marL="0">
              <a:buNone/>
            </a:pPr>
            <a:r>
              <a:rPr lang="en-US" sz="1300" dirty="0">
                <a:solidFill>
                  <a:schemeClr val="tx1"/>
                </a:solidFill>
              </a:rPr>
              <a:t>AWS resources applied, then destroyed</a:t>
            </a:r>
            <a:endParaRPr lang="en-US" sz="1300" dirty="0"/>
          </a:p>
        </p:txBody>
      </p:sp>
      <p:sp>
        <p:nvSpPr>
          <p:cNvPr id="9" name="card"/>
          <p:cNvSpPr/>
          <p:nvPr/>
        </p:nvSpPr>
        <p:spPr>
          <a:xfrm>
            <a:off x="457200" y="2304288"/>
            <a:ext cx="3017520" cy="960120"/>
          </a:xfrm>
          <a:prstGeom prst="roundRect">
            <a:avLst>
              <a:gd name="adj" fmla="val 7619"/>
            </a:avLst>
          </a:prstGeom>
          <a:solidFill>
            <a:schemeClr val="bg2"/>
          </a:solidFill>
          <a:ln w="12700">
            <a:solidFill>
              <a:schemeClr val="bg2"/>
            </a:solidFill>
            <a:prstDash val="solid"/>
          </a:ln>
        </p:spPr>
      </p:sp>
      <p:sp>
        <p:nvSpPr>
          <p:cNvPr id="10" name="Text 7"/>
          <p:cNvSpPr txBox="1"/>
          <p:nvPr/>
        </p:nvSpPr>
        <p:spPr>
          <a:xfrm>
            <a:off x="640080" y="2395728"/>
            <a:ext cx="1143000" cy="77724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a:t>
            </a:r>
            <a:endParaRPr lang="en-US" sz="3600" dirty="0"/>
          </a:p>
        </p:txBody>
      </p:sp>
      <p:sp>
        <p:nvSpPr>
          <p:cNvPr id="11" name="Text 8"/>
          <p:cNvSpPr txBox="1"/>
          <p:nvPr/>
        </p:nvSpPr>
        <p:spPr>
          <a:xfrm>
            <a:off x="1783080" y="2395728"/>
            <a:ext cx="1600200" cy="777240"/>
          </a:xfrm>
          <a:prstGeom prst="rect">
            <a:avLst/>
          </a:prstGeom>
          <a:noFill/>
          <a:ln/>
        </p:spPr>
        <p:txBody>
          <a:bodyPr wrap="square" lIns="0" tIns="0" rIns="0" bIns="0" rtlCol="0" anchor="ctr"/>
          <a:lstStyle/>
          <a:p>
            <a:pPr indent="0" marL="0">
              <a:buNone/>
            </a:pPr>
            <a:r>
              <a:rPr lang="en-US" sz="1300" dirty="0">
                <a:solidFill>
                  <a:schemeClr val="tx1"/>
                </a:solidFill>
              </a:rPr>
              <a:t>t3.small workers (Free Tier)</a:t>
            </a:r>
            <a:endParaRPr lang="en-US" sz="1300" dirty="0"/>
          </a:p>
        </p:txBody>
      </p:sp>
      <p:sp>
        <p:nvSpPr>
          <p:cNvPr id="12" name="card"/>
          <p:cNvSpPr/>
          <p:nvPr/>
        </p:nvSpPr>
        <p:spPr>
          <a:xfrm>
            <a:off x="457200" y="3419856"/>
            <a:ext cx="3017520" cy="960120"/>
          </a:xfrm>
          <a:prstGeom prst="roundRect">
            <a:avLst>
              <a:gd name="adj" fmla="val 7619"/>
            </a:avLst>
          </a:prstGeom>
          <a:solidFill>
            <a:schemeClr val="bg2"/>
          </a:solidFill>
          <a:ln w="12700">
            <a:solidFill>
              <a:schemeClr val="bg2"/>
            </a:solidFill>
            <a:prstDash val="solid"/>
          </a:ln>
        </p:spPr>
      </p:sp>
      <p:sp>
        <p:nvSpPr>
          <p:cNvPr id="13" name="Text 10"/>
          <p:cNvSpPr txBox="1"/>
          <p:nvPr/>
        </p:nvSpPr>
        <p:spPr>
          <a:xfrm>
            <a:off x="640080" y="3511296"/>
            <a:ext cx="1143000" cy="77724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1.31</a:t>
            </a:r>
            <a:endParaRPr lang="en-US" sz="3600" dirty="0"/>
          </a:p>
        </p:txBody>
      </p:sp>
      <p:sp>
        <p:nvSpPr>
          <p:cNvPr id="14" name="Text 11"/>
          <p:cNvSpPr txBox="1"/>
          <p:nvPr/>
        </p:nvSpPr>
        <p:spPr>
          <a:xfrm>
            <a:off x="1783080" y="3511296"/>
            <a:ext cx="1600200" cy="777240"/>
          </a:xfrm>
          <a:prstGeom prst="rect">
            <a:avLst/>
          </a:prstGeom>
          <a:noFill/>
          <a:ln/>
        </p:spPr>
        <p:txBody>
          <a:bodyPr wrap="square" lIns="0" tIns="0" rIns="0" bIns="0" rtlCol="0" anchor="ctr"/>
          <a:lstStyle/>
          <a:p>
            <a:pPr indent="0" marL="0">
              <a:buNone/>
            </a:pPr>
            <a:r>
              <a:rPr lang="en-US" sz="1300" dirty="0">
                <a:solidFill>
                  <a:schemeClr val="tx1"/>
                </a:solidFill>
              </a:rPr>
              <a:t>EKS version, ap-southeast-2</a:t>
            </a:r>
            <a:endParaRPr lang="en-US" sz="1300" dirty="0"/>
          </a:p>
        </p:txBody>
      </p:sp>
      <p:sp>
        <p:nvSpPr>
          <p:cNvPr id="15" name="Text 12"/>
          <p:cNvSpPr txBox="1"/>
          <p:nvPr/>
        </p:nvSpPr>
        <p:spPr>
          <a:xfrm>
            <a:off x="3840480" y="1188720"/>
            <a:ext cx="1280160" cy="6400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network.tf</a:t>
            </a:r>
            <a:endParaRPr lang="en-US" sz="1300" dirty="0"/>
          </a:p>
        </p:txBody>
      </p:sp>
      <p:sp>
        <p:nvSpPr>
          <p:cNvPr id="16" name="Text 13"/>
          <p:cNvSpPr txBox="1"/>
          <p:nvPr/>
        </p:nvSpPr>
        <p:spPr>
          <a:xfrm>
            <a:off x="5166360" y="1188720"/>
            <a:ext cx="3520440" cy="685800"/>
          </a:xfrm>
          <a:prstGeom prst="rect">
            <a:avLst/>
          </a:prstGeom>
          <a:noFill/>
          <a:ln/>
        </p:spPr>
        <p:txBody>
          <a:bodyPr wrap="square" lIns="0" tIns="0" rIns="0" bIns="0" rtlCol="0" anchor="t"/>
          <a:lstStyle/>
          <a:p>
            <a:pPr indent="0" marL="0">
              <a:buNone/>
            </a:pPr>
            <a:r>
              <a:rPr lang="en-US" sz="1300" dirty="0">
                <a:solidFill>
                  <a:schemeClr val="tx1"/>
                </a:solidFill>
              </a:rPr>
              <a:t>VPC 10.50.0.0/16, two public subnets tagged for ELB, IGW, routes</a:t>
            </a:r>
            <a:endParaRPr lang="en-US" sz="1300" dirty="0"/>
          </a:p>
        </p:txBody>
      </p:sp>
      <p:sp>
        <p:nvSpPr>
          <p:cNvPr id="17" name="Text 14"/>
          <p:cNvSpPr txBox="1"/>
          <p:nvPr/>
        </p:nvSpPr>
        <p:spPr>
          <a:xfrm>
            <a:off x="3840480" y="2011680"/>
            <a:ext cx="1280160" cy="6400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eks.tf</a:t>
            </a:r>
            <a:endParaRPr lang="en-US" sz="1300" dirty="0"/>
          </a:p>
        </p:txBody>
      </p:sp>
      <p:sp>
        <p:nvSpPr>
          <p:cNvPr id="18" name="Text 15"/>
          <p:cNvSpPr txBox="1"/>
          <p:nvPr/>
        </p:nvSpPr>
        <p:spPr>
          <a:xfrm>
            <a:off x="5166360" y="2011680"/>
            <a:ext cx="3520440" cy="685800"/>
          </a:xfrm>
          <a:prstGeom prst="rect">
            <a:avLst/>
          </a:prstGeom>
          <a:noFill/>
          <a:ln/>
        </p:spPr>
        <p:txBody>
          <a:bodyPr wrap="square" lIns="0" tIns="0" rIns="0" bIns="0" rtlCol="0" anchor="t"/>
          <a:lstStyle/>
          <a:p>
            <a:pPr indent="0" marL="0">
              <a:buNone/>
            </a:pPr>
            <a:r>
              <a:rPr lang="en-US" sz="1300" dirty="0">
                <a:solidFill>
                  <a:schemeClr val="tx1"/>
                </a:solidFill>
              </a:rPr>
              <a:t>IAM roles, EKS control plane, node group 1–3, EBS CSI + metrics-server add-ons</a:t>
            </a:r>
            <a:endParaRPr lang="en-US" sz="1300" dirty="0"/>
          </a:p>
        </p:txBody>
      </p:sp>
      <p:sp>
        <p:nvSpPr>
          <p:cNvPr id="19" name="Text 16"/>
          <p:cNvSpPr txBox="1"/>
          <p:nvPr/>
        </p:nvSpPr>
        <p:spPr>
          <a:xfrm>
            <a:off x="3840480" y="2834640"/>
            <a:ext cx="1280160" cy="6400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storage.tf</a:t>
            </a:r>
            <a:endParaRPr lang="en-US" sz="1300" dirty="0"/>
          </a:p>
        </p:txBody>
      </p:sp>
      <p:sp>
        <p:nvSpPr>
          <p:cNvPr id="20" name="Text 17"/>
          <p:cNvSpPr txBox="1"/>
          <p:nvPr/>
        </p:nvSpPr>
        <p:spPr>
          <a:xfrm>
            <a:off x="5166360" y="2834640"/>
            <a:ext cx="3520440" cy="685800"/>
          </a:xfrm>
          <a:prstGeom prst="rect">
            <a:avLst/>
          </a:prstGeom>
          <a:noFill/>
          <a:ln/>
        </p:spPr>
        <p:txBody>
          <a:bodyPr wrap="square" lIns="0" tIns="0" rIns="0" bIns="0" rtlCol="0" anchor="t"/>
          <a:lstStyle/>
          <a:p>
            <a:pPr indent="0" marL="0">
              <a:buNone/>
            </a:pPr>
            <a:r>
              <a:rPr lang="en-US" sz="1300" dirty="0">
                <a:solidFill>
                  <a:schemeClr val="tx1"/>
                </a:solidFill>
              </a:rPr>
              <a:t>Encrypted, versioned S3 bucket for pg_dump backups</a:t>
            </a:r>
            <a:endParaRPr lang="en-US" sz="1300" dirty="0"/>
          </a:p>
        </p:txBody>
      </p:sp>
      <p:sp>
        <p:nvSpPr>
          <p:cNvPr id="21" name="Text 18"/>
          <p:cNvSpPr txBox="1"/>
          <p:nvPr/>
        </p:nvSpPr>
        <p:spPr>
          <a:xfrm>
            <a:off x="3840480" y="3657600"/>
            <a:ext cx="1280160" cy="6400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provider.tf</a:t>
            </a:r>
            <a:endParaRPr lang="en-US" sz="1300" dirty="0"/>
          </a:p>
        </p:txBody>
      </p:sp>
      <p:sp>
        <p:nvSpPr>
          <p:cNvPr id="22" name="Text 19"/>
          <p:cNvSpPr txBox="1"/>
          <p:nvPr/>
        </p:nvSpPr>
        <p:spPr>
          <a:xfrm>
            <a:off x="5166360" y="3657600"/>
            <a:ext cx="3520440" cy="685800"/>
          </a:xfrm>
          <a:prstGeom prst="rect">
            <a:avLst/>
          </a:prstGeom>
          <a:noFill/>
          <a:ln/>
        </p:spPr>
        <p:txBody>
          <a:bodyPr wrap="square" lIns="0" tIns="0" rIns="0" bIns="0" rtlCol="0" anchor="t"/>
          <a:lstStyle/>
          <a:p>
            <a:pPr indent="0" marL="0">
              <a:buNone/>
            </a:pPr>
            <a:r>
              <a:rPr lang="en-US" sz="1300" dirty="0">
                <a:solidFill>
                  <a:schemeClr val="tx1"/>
                </a:solidFill>
              </a:rPr>
              <a:t>use_localstack=true points every call at LocalStack for CI</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lIns="0" tIns="0" rIns="0" bIns="0" rtlCol="0" anchor="ctr"/>
          <a:lstStyle/>
          <a:p>
            <a:pPr algn="l" indent="0" marL="0">
              <a:buNone/>
            </a:pPr>
            <a:r>
              <a:rPr lang="en-US" sz="3200" b="1" dirty="0">
                <a:solidFill>
                  <a:schemeClr val="tx2"/>
                </a:solidFill>
              </a:rPr>
              <a:t>Kubernetes and Helm on EKS</a:t>
            </a:r>
            <a:endParaRPr lang="en-US" sz="3200" dirty="0"/>
          </a:p>
        </p:txBody>
      </p:sp>
      <p:sp>
        <p:nvSpPr>
          <p:cNvPr id="3" name="milestone-pill"/>
          <p:cNvSpPr/>
          <p:nvPr/>
        </p:nvSpPr>
        <p:spPr>
          <a:xfrm>
            <a:off x="7818120" y="411480"/>
            <a:ext cx="868680"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7818120" y="411480"/>
            <a:ext cx="868680" cy="384048"/>
          </a:xfrm>
          <a:prstGeom prst="rect">
            <a:avLst/>
          </a:prstGeom>
          <a:noFill/>
          <a:ln/>
        </p:spPr>
        <p:txBody>
          <a:bodyPr wrap="square" lIns="0" tIns="0" rIns="0" bIns="0" rtlCol="0" anchor="ctr"/>
          <a:lstStyle/>
          <a:p>
            <a:pPr algn="ctr" indent="0" marL="0">
              <a:buNone/>
            </a:pPr>
            <a:r>
              <a:rPr lang="en-US" sz="1400" b="1" dirty="0">
                <a:solidFill>
                  <a:schemeClr val="bg1"/>
                </a:solidFill>
              </a:rPr>
              <a:t>M8</a:t>
            </a:r>
            <a:endParaRPr lang="en-US" sz="1400" dirty="0"/>
          </a:p>
        </p:txBody>
      </p:sp>
      <p:sp>
        <p:nvSpPr>
          <p:cNvPr id="6" name="card"/>
          <p:cNvSpPr/>
          <p:nvPr/>
        </p:nvSpPr>
        <p:spPr>
          <a:xfrm>
            <a:off x="457200" y="1188720"/>
            <a:ext cx="1874520" cy="685800"/>
          </a:xfrm>
          <a:prstGeom prst="roundRect">
            <a:avLst>
              <a:gd name="adj" fmla="val 10667"/>
            </a:avLst>
          </a:prstGeom>
          <a:solidFill>
            <a:schemeClr val="bg2"/>
          </a:solidFill>
          <a:ln w="12700">
            <a:solidFill>
              <a:schemeClr val="bg2"/>
            </a:solidFill>
            <a:prstDash val="solid"/>
          </a:ln>
        </p:spPr>
      </p:sp>
      <p:sp>
        <p:nvSpPr>
          <p:cNvPr id="7" name="Text 4"/>
          <p:cNvSpPr txBox="1"/>
          <p:nvPr/>
        </p:nvSpPr>
        <p:spPr>
          <a:xfrm>
            <a:off x="566928" y="1188720"/>
            <a:ext cx="1691640" cy="685800"/>
          </a:xfrm>
          <a:prstGeom prst="rect">
            <a:avLst/>
          </a:prstGeom>
          <a:noFill/>
          <a:ln/>
        </p:spPr>
        <p:txBody>
          <a:bodyPr wrap="square" lIns="0" tIns="0" rIns="0" bIns="0" rtlCol="0" anchor="ctr"/>
          <a:lstStyle/>
          <a:p>
            <a:pPr indent="0" marL="0">
              <a:buNone/>
            </a:pPr>
            <a:r>
              <a:rPr lang="en-US" sz="1200" dirty="0">
                <a:solidFill>
                  <a:schemeClr val="tx1"/>
                </a:solidFill>
              </a:rPr>
              <a:t>Secret + ConfigMap</a:t>
            </a:r>
            <a:endParaRPr lang="en-US" sz="1200" dirty="0"/>
          </a:p>
        </p:txBody>
      </p:sp>
      <p:sp>
        <p:nvSpPr>
          <p:cNvPr id="8" name="card"/>
          <p:cNvSpPr/>
          <p:nvPr/>
        </p:nvSpPr>
        <p:spPr>
          <a:xfrm>
            <a:off x="2468880" y="1188720"/>
            <a:ext cx="1874520" cy="685800"/>
          </a:xfrm>
          <a:prstGeom prst="roundRect">
            <a:avLst>
              <a:gd name="adj" fmla="val 10667"/>
            </a:avLst>
          </a:prstGeom>
          <a:solidFill>
            <a:schemeClr val="bg2"/>
          </a:solidFill>
          <a:ln w="12700">
            <a:solidFill>
              <a:schemeClr val="bg2"/>
            </a:solidFill>
            <a:prstDash val="solid"/>
          </a:ln>
        </p:spPr>
      </p:sp>
      <p:sp>
        <p:nvSpPr>
          <p:cNvPr id="9" name="Text 6"/>
          <p:cNvSpPr txBox="1"/>
          <p:nvPr/>
        </p:nvSpPr>
        <p:spPr>
          <a:xfrm>
            <a:off x="2578608" y="1188720"/>
            <a:ext cx="1691640" cy="685800"/>
          </a:xfrm>
          <a:prstGeom prst="rect">
            <a:avLst/>
          </a:prstGeom>
          <a:noFill/>
          <a:ln/>
        </p:spPr>
        <p:txBody>
          <a:bodyPr wrap="square" lIns="0" tIns="0" rIns="0" bIns="0" rtlCol="0" anchor="ctr"/>
          <a:lstStyle/>
          <a:p>
            <a:pPr indent="0" marL="0">
              <a:buNone/>
            </a:pPr>
            <a:r>
              <a:rPr lang="en-US" sz="1200" dirty="0">
                <a:solidFill>
                  <a:schemeClr val="tx1"/>
                </a:solidFill>
              </a:rPr>
              <a:t>Postgres StatefulSet + PVC</a:t>
            </a:r>
            <a:endParaRPr lang="en-US" sz="1200" dirty="0"/>
          </a:p>
        </p:txBody>
      </p:sp>
      <p:sp>
        <p:nvSpPr>
          <p:cNvPr id="10" name="card"/>
          <p:cNvSpPr/>
          <p:nvPr/>
        </p:nvSpPr>
        <p:spPr>
          <a:xfrm>
            <a:off x="457200" y="2011680"/>
            <a:ext cx="1874520" cy="685800"/>
          </a:xfrm>
          <a:prstGeom prst="roundRect">
            <a:avLst>
              <a:gd name="adj" fmla="val 10667"/>
            </a:avLst>
          </a:prstGeom>
          <a:solidFill>
            <a:schemeClr val="bg2"/>
          </a:solidFill>
          <a:ln w="12700">
            <a:solidFill>
              <a:schemeClr val="bg2"/>
            </a:solidFill>
            <a:prstDash val="solid"/>
          </a:ln>
        </p:spPr>
      </p:sp>
      <p:sp>
        <p:nvSpPr>
          <p:cNvPr id="11" name="Text 8"/>
          <p:cNvSpPr txBox="1"/>
          <p:nvPr/>
        </p:nvSpPr>
        <p:spPr>
          <a:xfrm>
            <a:off x="566928" y="2011680"/>
            <a:ext cx="1691640" cy="685800"/>
          </a:xfrm>
          <a:prstGeom prst="rect">
            <a:avLst/>
          </a:prstGeom>
          <a:noFill/>
          <a:ln/>
        </p:spPr>
        <p:txBody>
          <a:bodyPr wrap="square" lIns="0" tIns="0" rIns="0" bIns="0" rtlCol="0" anchor="ctr"/>
          <a:lstStyle/>
          <a:p>
            <a:pPr indent="0" marL="0">
              <a:buNone/>
            </a:pPr>
            <a:r>
              <a:rPr lang="en-US" sz="1200" dirty="0">
                <a:solidFill>
                  <a:schemeClr val="tx1"/>
                </a:solidFill>
              </a:rPr>
              <a:t>Deployments ×2, maxUnavailable 0</a:t>
            </a:r>
            <a:endParaRPr lang="en-US" sz="1200" dirty="0"/>
          </a:p>
        </p:txBody>
      </p:sp>
      <p:sp>
        <p:nvSpPr>
          <p:cNvPr id="12" name="card"/>
          <p:cNvSpPr/>
          <p:nvPr/>
        </p:nvSpPr>
        <p:spPr>
          <a:xfrm>
            <a:off x="2468880" y="2011680"/>
            <a:ext cx="1874520" cy="685800"/>
          </a:xfrm>
          <a:prstGeom prst="roundRect">
            <a:avLst>
              <a:gd name="adj" fmla="val 10667"/>
            </a:avLst>
          </a:prstGeom>
          <a:solidFill>
            <a:schemeClr val="bg2"/>
          </a:solidFill>
          <a:ln w="12700">
            <a:solidFill>
              <a:schemeClr val="bg2"/>
            </a:solidFill>
            <a:prstDash val="solid"/>
          </a:ln>
        </p:spPr>
      </p:sp>
      <p:sp>
        <p:nvSpPr>
          <p:cNvPr id="13" name="Text 10"/>
          <p:cNvSpPr txBox="1"/>
          <p:nvPr/>
        </p:nvSpPr>
        <p:spPr>
          <a:xfrm>
            <a:off x="2578608" y="2011680"/>
            <a:ext cx="1691640" cy="685800"/>
          </a:xfrm>
          <a:prstGeom prst="rect">
            <a:avLst/>
          </a:prstGeom>
          <a:noFill/>
          <a:ln/>
        </p:spPr>
        <p:txBody>
          <a:bodyPr wrap="square" lIns="0" tIns="0" rIns="0" bIns="0" rtlCol="0" anchor="ctr"/>
          <a:lstStyle/>
          <a:p>
            <a:pPr indent="0" marL="0">
              <a:buNone/>
            </a:pPr>
            <a:r>
              <a:rPr lang="en-US" sz="1200" dirty="0">
                <a:solidFill>
                  <a:schemeClr val="tx1"/>
                </a:solidFill>
              </a:rPr>
              <a:t>Startup / readiness / liveness probes</a:t>
            </a:r>
            <a:endParaRPr lang="en-US" sz="1200" dirty="0"/>
          </a:p>
        </p:txBody>
      </p:sp>
      <p:sp>
        <p:nvSpPr>
          <p:cNvPr id="14" name="card"/>
          <p:cNvSpPr/>
          <p:nvPr/>
        </p:nvSpPr>
        <p:spPr>
          <a:xfrm>
            <a:off x="457200" y="2834640"/>
            <a:ext cx="1874520" cy="685800"/>
          </a:xfrm>
          <a:prstGeom prst="roundRect">
            <a:avLst>
              <a:gd name="adj" fmla="val 10667"/>
            </a:avLst>
          </a:prstGeom>
          <a:solidFill>
            <a:schemeClr val="bg2"/>
          </a:solidFill>
          <a:ln w="12700">
            <a:solidFill>
              <a:schemeClr val="bg2"/>
            </a:solidFill>
            <a:prstDash val="solid"/>
          </a:ln>
        </p:spPr>
      </p:sp>
      <p:sp>
        <p:nvSpPr>
          <p:cNvPr id="15" name="Text 12"/>
          <p:cNvSpPr txBox="1"/>
          <p:nvPr/>
        </p:nvSpPr>
        <p:spPr>
          <a:xfrm>
            <a:off x="566928" y="2834640"/>
            <a:ext cx="1691640" cy="685800"/>
          </a:xfrm>
          <a:prstGeom prst="rect">
            <a:avLst/>
          </a:prstGeom>
          <a:noFill/>
          <a:ln/>
        </p:spPr>
        <p:txBody>
          <a:bodyPr wrap="square" lIns="0" tIns="0" rIns="0" bIns="0" rtlCol="0" anchor="ctr"/>
          <a:lstStyle/>
          <a:p>
            <a:pPr indent="0" marL="0">
              <a:buNone/>
            </a:pPr>
            <a:r>
              <a:rPr lang="en-US" sz="1200" dirty="0">
                <a:solidFill>
                  <a:schemeClr val="tx1"/>
                </a:solidFill>
              </a:rPr>
              <a:t>Ingress: /api → backend, / → frontend</a:t>
            </a:r>
            <a:endParaRPr lang="en-US" sz="1200" dirty="0"/>
          </a:p>
        </p:txBody>
      </p:sp>
      <p:sp>
        <p:nvSpPr>
          <p:cNvPr id="16" name="card"/>
          <p:cNvSpPr/>
          <p:nvPr/>
        </p:nvSpPr>
        <p:spPr>
          <a:xfrm>
            <a:off x="2468880" y="2834640"/>
            <a:ext cx="1874520" cy="685800"/>
          </a:xfrm>
          <a:prstGeom prst="roundRect">
            <a:avLst>
              <a:gd name="adj" fmla="val 10667"/>
            </a:avLst>
          </a:prstGeom>
          <a:solidFill>
            <a:schemeClr val="bg2"/>
          </a:solidFill>
          <a:ln w="12700">
            <a:solidFill>
              <a:schemeClr val="bg2"/>
            </a:solidFill>
            <a:prstDash val="solid"/>
          </a:ln>
        </p:spPr>
      </p:sp>
      <p:sp>
        <p:nvSpPr>
          <p:cNvPr id="17" name="Text 14"/>
          <p:cNvSpPr txBox="1"/>
          <p:nvPr/>
        </p:nvSpPr>
        <p:spPr>
          <a:xfrm>
            <a:off x="2578608" y="2834640"/>
            <a:ext cx="1691640" cy="685800"/>
          </a:xfrm>
          <a:prstGeom prst="rect">
            <a:avLst/>
          </a:prstGeom>
          <a:noFill/>
          <a:ln/>
        </p:spPr>
        <p:txBody>
          <a:bodyPr wrap="square" lIns="0" tIns="0" rIns="0" bIns="0" rtlCol="0" anchor="ctr"/>
          <a:lstStyle/>
          <a:p>
            <a:pPr indent="0" marL="0">
              <a:buNone/>
            </a:pPr>
            <a:r>
              <a:rPr lang="en-US" sz="1200" dirty="0">
                <a:solidFill>
                  <a:schemeClr val="tx1"/>
                </a:solidFill>
              </a:rPr>
              <a:t>HPA at 60% CPU</a:t>
            </a:r>
            <a:endParaRPr lang="en-US" sz="1200" dirty="0"/>
          </a:p>
        </p:txBody>
      </p:sp>
      <p:sp>
        <p:nvSpPr>
          <p:cNvPr id="18" name="card"/>
          <p:cNvSpPr/>
          <p:nvPr/>
        </p:nvSpPr>
        <p:spPr>
          <a:xfrm>
            <a:off x="457200" y="3657600"/>
            <a:ext cx="1874520" cy="685800"/>
          </a:xfrm>
          <a:prstGeom prst="roundRect">
            <a:avLst>
              <a:gd name="adj" fmla="val 10667"/>
            </a:avLst>
          </a:prstGeom>
          <a:solidFill>
            <a:schemeClr val="bg2"/>
          </a:solidFill>
          <a:ln w="12700">
            <a:solidFill>
              <a:schemeClr val="bg2"/>
            </a:solidFill>
            <a:prstDash val="solid"/>
          </a:ln>
        </p:spPr>
      </p:sp>
      <p:sp>
        <p:nvSpPr>
          <p:cNvPr id="19" name="Text 16"/>
          <p:cNvSpPr txBox="1"/>
          <p:nvPr/>
        </p:nvSpPr>
        <p:spPr>
          <a:xfrm>
            <a:off x="566928" y="3657600"/>
            <a:ext cx="1691640" cy="685800"/>
          </a:xfrm>
          <a:prstGeom prst="rect">
            <a:avLst/>
          </a:prstGeom>
          <a:noFill/>
          <a:ln/>
        </p:spPr>
        <p:txBody>
          <a:bodyPr wrap="square" lIns="0" tIns="0" rIns="0" bIns="0" rtlCol="0" anchor="ctr"/>
          <a:lstStyle/>
          <a:p>
            <a:pPr indent="0" marL="0">
              <a:buNone/>
            </a:pPr>
            <a:r>
              <a:rPr lang="en-US" sz="1200" dirty="0">
                <a:solidFill>
                  <a:schemeClr val="tx1"/>
                </a:solidFill>
              </a:rPr>
              <a:t>ServiceMonitor + PrometheusRule</a:t>
            </a:r>
            <a:endParaRPr lang="en-US" sz="1200" dirty="0"/>
          </a:p>
        </p:txBody>
      </p:sp>
      <p:sp>
        <p:nvSpPr>
          <p:cNvPr id="20" name="card"/>
          <p:cNvSpPr/>
          <p:nvPr/>
        </p:nvSpPr>
        <p:spPr>
          <a:xfrm>
            <a:off x="2468880" y="3657600"/>
            <a:ext cx="1874520" cy="685800"/>
          </a:xfrm>
          <a:prstGeom prst="roundRect">
            <a:avLst>
              <a:gd name="adj" fmla="val 10667"/>
            </a:avLst>
          </a:prstGeom>
          <a:solidFill>
            <a:schemeClr val="bg2"/>
          </a:solidFill>
          <a:ln w="12700">
            <a:solidFill>
              <a:schemeClr val="bg2"/>
            </a:solidFill>
            <a:prstDash val="solid"/>
          </a:ln>
        </p:spPr>
      </p:sp>
      <p:sp>
        <p:nvSpPr>
          <p:cNvPr id="21" name="Text 18"/>
          <p:cNvSpPr txBox="1"/>
          <p:nvPr/>
        </p:nvSpPr>
        <p:spPr>
          <a:xfrm>
            <a:off x="2578608" y="3657600"/>
            <a:ext cx="1691640" cy="685800"/>
          </a:xfrm>
          <a:prstGeom prst="rect">
            <a:avLst/>
          </a:prstGeom>
          <a:noFill/>
          <a:ln/>
        </p:spPr>
        <p:txBody>
          <a:bodyPr wrap="square" lIns="0" tIns="0" rIns="0" bIns="0" rtlCol="0" anchor="ctr"/>
          <a:lstStyle/>
          <a:p>
            <a:pPr indent="0" marL="0">
              <a:buNone/>
            </a:pPr>
            <a:r>
              <a:rPr lang="en-US" sz="1200" dirty="0">
                <a:solidFill>
                  <a:schemeClr val="tx1"/>
                </a:solidFill>
              </a:rPr>
              <a:t>values-dev / values-prod / values-eks</a:t>
            </a:r>
            <a:endParaRPr lang="en-US" sz="1200" dirty="0"/>
          </a:p>
        </p:txBody>
      </p:sp>
      <p:sp>
        <p:nvSpPr>
          <p:cNvPr id="22" name="Shape 19"/>
          <p:cNvSpPr/>
          <p:nvPr/>
        </p:nvSpPr>
        <p:spPr>
          <a:xfrm>
            <a:off x="4636008" y="1161288"/>
            <a:ext cx="4078224" cy="2253940"/>
          </a:xfrm>
          <a:prstGeom prst="rect">
            <a:avLst/>
          </a:prstGeom>
          <a:solidFill>
            <a:srgbClr val="D5DDE3"/>
          </a:solidFill>
          <a:ln w="12700">
            <a:solidFill>
              <a:srgbClr val="D5DDE3"/>
            </a:solidFill>
            <a:prstDash val="solid"/>
          </a:ln>
          <a:effectLst>
            <a:outerShdw sx="100000" sy="100000" kx="0" ky="0" algn="bl" rotWithShape="0" blurRad="76200" dist="25400" dir="5400000">
              <a:srgbClr val="000000">
                <a:alpha val="18000"/>
              </a:srgbClr>
            </a:outerShdw>
          </a:effectLst>
        </p:spPr>
      </p:sp>
      <p:pic>
        <p:nvPicPr>
          <p:cNvPr id="23" name="Image 0" descr="App served from EKS through an AWS load balancer">    </p:cNvPr>
          <p:cNvPicPr>
            <a:picLocks noChangeAspect="1"/>
          </p:cNvPicPr>
          <p:nvPr/>
        </p:nvPicPr>
        <p:blipFill>
          <a:blip r:embed="rId1"/>
          <a:stretch>
            <a:fillRect/>
          </a:stretch>
        </p:blipFill>
        <p:spPr>
          <a:xfrm>
            <a:off x="4663440" y="1188720"/>
            <a:ext cx="4023360" cy="2199076"/>
          </a:xfrm>
          <a:prstGeom prst="rect">
            <a:avLst/>
          </a:prstGeom>
        </p:spPr>
      </p:pic>
      <p:sp>
        <p:nvSpPr>
          <p:cNvPr id="24" name="Text 20"/>
          <p:cNvSpPr txBox="1"/>
          <p:nvPr/>
        </p:nvSpPr>
        <p:spPr>
          <a:xfrm>
            <a:off x="4663440" y="3474720"/>
            <a:ext cx="4023360" cy="274320"/>
          </a:xfrm>
          <a:prstGeom prst="rect">
            <a:avLst/>
          </a:prstGeom>
          <a:noFill/>
          <a:ln/>
        </p:spPr>
        <p:txBody>
          <a:bodyPr wrap="square" lIns="0" tIns="0" rIns="0" bIns="0" rtlCol="0" anchor="ctr"/>
          <a:lstStyle/>
          <a:p>
            <a:pPr indent="0" marL="0">
              <a:buNone/>
            </a:pPr>
            <a:r>
              <a:rPr lang="en-US" sz="1100" i="1" dirty="0">
                <a:solidFill>
                  <a:schemeClr val="accent5"/>
                </a:solidFill>
              </a:rPr>
              <a:t>The app on EKS, served through an AWS load balancer</a:t>
            </a:r>
            <a:endParaRPr lang="en-US" sz="11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lIns="0" tIns="0" rIns="0" bIns="0" rtlCol="0" anchor="ctr"/>
          <a:lstStyle/>
          <a:p>
            <a:pPr algn="l" indent="0" marL="0">
              <a:buNone/>
            </a:pPr>
            <a:r>
              <a:rPr lang="en-US" sz="3200" b="1" dirty="0">
                <a:solidFill>
                  <a:schemeClr val="tx2"/>
                </a:solidFill>
              </a:rPr>
              <a:t>Observability</a:t>
            </a:r>
            <a:endParaRPr lang="en-US" sz="3200" dirty="0"/>
          </a:p>
        </p:txBody>
      </p:sp>
      <p:sp>
        <p:nvSpPr>
          <p:cNvPr id="3" name="milestone-pill"/>
          <p:cNvSpPr/>
          <p:nvPr/>
        </p:nvSpPr>
        <p:spPr>
          <a:xfrm>
            <a:off x="7818120" y="411480"/>
            <a:ext cx="868680" cy="384048"/>
          </a:xfrm>
          <a:prstGeom prst="roundRect">
            <a:avLst>
              <a:gd name="adj" fmla="val 50000"/>
            </a:avLst>
          </a:prstGeom>
          <a:solidFill>
            <a:schemeClr val="accent1"/>
          </a:solidFill>
          <a:ln w="12700">
            <a:solidFill>
              <a:schemeClr val="accent1"/>
            </a:solidFill>
            <a:prstDash val="solid"/>
          </a:ln>
        </p:spPr>
      </p:sp>
      <p:sp>
        <p:nvSpPr>
          <p:cNvPr id="4" name="Text 2"/>
          <p:cNvSpPr txBox="1"/>
          <p:nvPr/>
        </p:nvSpPr>
        <p:spPr>
          <a:xfrm>
            <a:off x="7818120" y="411480"/>
            <a:ext cx="868680" cy="384048"/>
          </a:xfrm>
          <a:prstGeom prst="rect">
            <a:avLst/>
          </a:prstGeom>
          <a:noFill/>
          <a:ln/>
        </p:spPr>
        <p:txBody>
          <a:bodyPr wrap="square" lIns="0" tIns="0" rIns="0" bIns="0" rtlCol="0" anchor="ctr"/>
          <a:lstStyle/>
          <a:p>
            <a:pPr algn="ctr" indent="0" marL="0">
              <a:buNone/>
            </a:pPr>
            <a:r>
              <a:rPr lang="en-US" sz="1400" b="1" dirty="0">
                <a:solidFill>
                  <a:schemeClr val="bg1"/>
                </a:solidFill>
              </a:rPr>
              <a:t>M9</a:t>
            </a:r>
            <a:endParaRPr lang="en-US" sz="1400" dirty="0"/>
          </a:p>
        </p:txBody>
      </p:sp>
      <p:sp>
        <p:nvSpPr>
          <p:cNvPr id="6" name="Shape 3"/>
          <p:cNvSpPr/>
          <p:nvPr/>
        </p:nvSpPr>
        <p:spPr>
          <a:xfrm>
            <a:off x="429768" y="1161288"/>
            <a:ext cx="4809744" cy="2653771"/>
          </a:xfrm>
          <a:prstGeom prst="rect">
            <a:avLst/>
          </a:prstGeom>
          <a:solidFill>
            <a:srgbClr val="D5DDE3"/>
          </a:solidFill>
          <a:ln w="12700">
            <a:solidFill>
              <a:srgbClr val="D5DDE3"/>
            </a:solidFill>
            <a:prstDash val="solid"/>
          </a:ln>
          <a:effectLst>
            <a:outerShdw sx="100000" sy="100000" kx="0" ky="0" algn="bl" rotWithShape="0" blurRad="76200" dist="25400" dir="5400000">
              <a:srgbClr val="000000">
                <a:alpha val="18000"/>
              </a:srgbClr>
            </a:outerShdw>
          </a:effectLst>
        </p:spPr>
      </p:sp>
      <p:pic>
        <p:nvPicPr>
          <p:cNvPr id="7" name="Image 0" descr="Grafana dashboard for the app">    </p:cNvPr>
          <p:cNvPicPr>
            <a:picLocks noChangeAspect="1"/>
          </p:cNvPicPr>
          <p:nvPr/>
        </p:nvPicPr>
        <p:blipFill>
          <a:blip r:embed="rId1"/>
          <a:stretch>
            <a:fillRect/>
          </a:stretch>
        </p:blipFill>
        <p:spPr>
          <a:xfrm>
            <a:off x="457200" y="1188720"/>
            <a:ext cx="4754880" cy="2598907"/>
          </a:xfrm>
          <a:prstGeom prst="rect">
            <a:avLst/>
          </a:prstGeom>
        </p:spPr>
      </p:pic>
      <p:sp>
        <p:nvSpPr>
          <p:cNvPr id="8" name="Text 4"/>
          <p:cNvSpPr txBox="1"/>
          <p:nvPr/>
        </p:nvSpPr>
        <p:spPr>
          <a:xfrm>
            <a:off x="457200" y="3840480"/>
            <a:ext cx="4754880" cy="274320"/>
          </a:xfrm>
          <a:prstGeom prst="rect">
            <a:avLst/>
          </a:prstGeom>
          <a:noFill/>
          <a:ln/>
        </p:spPr>
        <p:txBody>
          <a:bodyPr wrap="square" lIns="0" tIns="0" rIns="0" bIns="0" rtlCol="0" anchor="ctr"/>
          <a:lstStyle/>
          <a:p>
            <a:pPr indent="0" marL="0">
              <a:buNone/>
            </a:pPr>
            <a:r>
              <a:rPr lang="en-US" sz="1100" i="1" dirty="0">
                <a:solidFill>
                  <a:schemeClr val="accent5"/>
                </a:solidFill>
              </a:rPr>
              <a:t>Grafana: Campus Lost &amp; Found dashboard</a:t>
            </a:r>
            <a:endParaRPr lang="en-US" sz="1100" dirty="0"/>
          </a:p>
        </p:txBody>
      </p:sp>
      <p:sp>
        <p:nvSpPr>
          <p:cNvPr id="9" name="Text 5"/>
          <p:cNvSpPr txBox="1"/>
          <p:nvPr/>
        </p:nvSpPr>
        <p:spPr>
          <a:xfrm>
            <a:off x="5532120" y="1188720"/>
            <a:ext cx="3154680" cy="292608"/>
          </a:xfrm>
          <a:prstGeom prst="rect">
            <a:avLst/>
          </a:prstGeom>
          <a:noFill/>
          <a:ln/>
        </p:spPr>
        <p:txBody>
          <a:bodyPr wrap="square" lIns="0" tIns="0" rIns="0" bIns="0" rtlCol="0" anchor="ctr"/>
          <a:lstStyle/>
          <a:p>
            <a:pPr indent="0" marL="0">
              <a:buNone/>
            </a:pPr>
            <a:r>
              <a:rPr lang="en-US" sz="1500" b="1" dirty="0">
                <a:solidFill>
                  <a:schemeClr val="tx2"/>
                </a:solidFill>
              </a:rPr>
              <a:t>Metrics on /metrics</a:t>
            </a:r>
            <a:endParaRPr lang="en-US" sz="1500" dirty="0"/>
          </a:p>
        </p:txBody>
      </p:sp>
      <p:sp>
        <p:nvSpPr>
          <p:cNvPr id="10" name="Text 6"/>
          <p:cNvSpPr txBox="1"/>
          <p:nvPr/>
        </p:nvSpPr>
        <p:spPr>
          <a:xfrm>
            <a:off x="5532120" y="1536192"/>
            <a:ext cx="3154680" cy="1097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http_requests_total</a:t>
            </a:r>
            <a:endParaRPr lang="en-US" sz="1300" dirty="0"/>
          </a:p>
          <a:p>
            <a:pPr marL="342900" indent="-342900">
              <a:spcAft>
                <a:spcPts val="600"/>
              </a:spcAft>
              <a:buSzPct val="100000"/>
              <a:buChar char="•"/>
            </a:pPr>
            <a:r>
              <a:rPr lang="en-US" sz="1300" dirty="0">
                <a:solidFill>
                  <a:schemeClr val="tx1"/>
                </a:solidFill>
              </a:rPr>
              <a:t>http_request_duration_seconds</a:t>
            </a:r>
            <a:endParaRPr lang="en-US" sz="1300" dirty="0"/>
          </a:p>
          <a:p>
            <a:pPr marL="342900" indent="-342900">
              <a:spcAft>
                <a:spcPts val="600"/>
              </a:spcAft>
              <a:buSzPct val="100000"/>
              <a:buChar char="•"/>
            </a:pPr>
            <a:r>
              <a:rPr lang="en-US" sz="1300" dirty="0">
                <a:solidFill>
                  <a:schemeClr val="tx1"/>
                </a:solidFill>
              </a:rPr>
              <a:t>lostfound_db_up · lostfound_items_open</a:t>
            </a:r>
            <a:endParaRPr lang="en-US" sz="1300" dirty="0"/>
          </a:p>
        </p:txBody>
      </p:sp>
      <p:sp>
        <p:nvSpPr>
          <p:cNvPr id="11" name="Text 7"/>
          <p:cNvSpPr txBox="1"/>
          <p:nvPr/>
        </p:nvSpPr>
        <p:spPr>
          <a:xfrm>
            <a:off x="5532120" y="2697480"/>
            <a:ext cx="3154680" cy="292608"/>
          </a:xfrm>
          <a:prstGeom prst="rect">
            <a:avLst/>
          </a:prstGeom>
          <a:noFill/>
          <a:ln/>
        </p:spPr>
        <p:txBody>
          <a:bodyPr wrap="square" lIns="0" tIns="0" rIns="0" bIns="0" rtlCol="0" anchor="ctr"/>
          <a:lstStyle/>
          <a:p>
            <a:pPr indent="0" marL="0">
              <a:buNone/>
            </a:pPr>
            <a:r>
              <a:rPr lang="en-US" sz="1500" b="1" dirty="0">
                <a:solidFill>
                  <a:schemeClr val="accent2"/>
                </a:solidFill>
              </a:rPr>
              <a:t>5 alerts</a:t>
            </a:r>
            <a:endParaRPr lang="en-US" sz="1500" dirty="0"/>
          </a:p>
        </p:txBody>
      </p:sp>
      <p:sp>
        <p:nvSpPr>
          <p:cNvPr id="12" name="Text 8"/>
          <p:cNvSpPr txBox="1"/>
          <p:nvPr/>
        </p:nvSpPr>
        <p:spPr>
          <a:xfrm>
            <a:off x="5532120" y="3044952"/>
            <a:ext cx="3154680" cy="1097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5xx ratio high · p95 &gt; 500 ms</a:t>
            </a:r>
            <a:endParaRPr lang="en-US" sz="1300" dirty="0"/>
          </a:p>
          <a:p>
            <a:pPr marL="342900" indent="-342900">
              <a:spcAft>
                <a:spcPts val="600"/>
              </a:spcAft>
              <a:buSzPct val="100000"/>
              <a:buChar char="•"/>
            </a:pPr>
            <a:r>
              <a:rPr lang="en-US" sz="1300" dirty="0">
                <a:solidFill>
                  <a:schemeClr val="tx1"/>
                </a:solidFill>
              </a:rPr>
              <a:t>Database down</a:t>
            </a:r>
            <a:endParaRPr lang="en-US" sz="1300" dirty="0"/>
          </a:p>
          <a:p>
            <a:pPr marL="342900" indent="-342900">
              <a:spcAft>
                <a:spcPts val="600"/>
              </a:spcAft>
              <a:buSzPct val="100000"/>
              <a:buChar char="•"/>
            </a:pPr>
            <a:r>
              <a:rPr lang="en-US" sz="1300" dirty="0">
                <a:solidFill>
                  <a:schemeClr val="tx1"/>
                </a:solidFill>
              </a:rPr>
              <a:t>Pod restarting · pod not ready</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7223760" cy="685800"/>
          </a:xfrm>
          <a:prstGeom prst="rect">
            <a:avLst/>
          </a:prstGeom>
          <a:noFill/>
          <a:ln/>
        </p:spPr>
        <p:txBody>
          <a:bodyPr wrap="square" lIns="0" tIns="0" rIns="0" bIns="0" rtlCol="0" anchor="ctr"/>
          <a:lstStyle/>
          <a:p>
            <a:pPr algn="l" indent="0" marL="0">
              <a:buNone/>
            </a:pPr>
            <a:r>
              <a:rPr lang="en-US" sz="3200" b="1" dirty="0">
                <a:solidFill>
                  <a:schemeClr val="tx2"/>
                </a:solidFill>
              </a:rPr>
              <a:t>Real incidents, real fixes</a:t>
            </a:r>
            <a:endParaRPr lang="en-US" sz="3200" dirty="0"/>
          </a:p>
        </p:txBody>
      </p:sp>
      <p:sp>
        <p:nvSpPr>
          <p:cNvPr id="4" name="card"/>
          <p:cNvSpPr/>
          <p:nvPr/>
        </p:nvSpPr>
        <p:spPr>
          <a:xfrm>
            <a:off x="457200" y="1188720"/>
            <a:ext cx="4023360" cy="1554480"/>
          </a:xfrm>
          <a:prstGeom prst="roundRect">
            <a:avLst>
              <a:gd name="adj" fmla="val 4706"/>
            </a:avLst>
          </a:prstGeom>
          <a:solidFill>
            <a:schemeClr val="bg2"/>
          </a:solidFill>
          <a:ln w="12700">
            <a:solidFill>
              <a:schemeClr val="bg2"/>
            </a:solidFill>
            <a:prstDash val="solid"/>
          </a:ln>
        </p:spPr>
      </p:sp>
      <p:sp>
        <p:nvSpPr>
          <p:cNvPr id="5" name="Text 2"/>
          <p:cNvSpPr txBox="1"/>
          <p:nvPr/>
        </p:nvSpPr>
        <p:spPr>
          <a:xfrm>
            <a:off x="640080" y="1325880"/>
            <a:ext cx="3657600" cy="292608"/>
          </a:xfrm>
          <a:prstGeom prst="rect">
            <a:avLst/>
          </a:prstGeom>
          <a:noFill/>
          <a:ln/>
        </p:spPr>
        <p:txBody>
          <a:bodyPr wrap="square" lIns="0" tIns="0" rIns="0" bIns="0" rtlCol="0" anchor="ctr"/>
          <a:lstStyle/>
          <a:p>
            <a:pPr indent="0" marL="0">
              <a:buNone/>
            </a:pPr>
            <a:r>
              <a:rPr lang="en-US" sz="1500" b="1" dirty="0">
                <a:solidFill>
                  <a:schemeClr val="tx2"/>
                </a:solidFill>
              </a:rPr>
              <a:t>Free Tier rejected t3.medium</a:t>
            </a:r>
            <a:endParaRPr lang="en-US" sz="1500" dirty="0"/>
          </a:p>
        </p:txBody>
      </p:sp>
      <p:sp>
        <p:nvSpPr>
          <p:cNvPr id="6" name="Text 3"/>
          <p:cNvSpPr txBox="1"/>
          <p:nvPr/>
        </p:nvSpPr>
        <p:spPr>
          <a:xfrm>
            <a:off x="640080" y="1691640"/>
            <a:ext cx="3657600" cy="457200"/>
          </a:xfrm>
          <a:prstGeom prst="rect">
            <a:avLst/>
          </a:prstGeom>
          <a:noFill/>
          <a:ln/>
        </p:spPr>
        <p:txBody>
          <a:bodyPr wrap="square" lIns="0" tIns="0" rIns="0" bIns="0" rtlCol="0" anchor="t"/>
          <a:lstStyle/>
          <a:p>
            <a:pPr indent="0" marL="0">
              <a:buNone/>
            </a:pPr>
            <a:r>
              <a:rPr lang="en-US" sz="1300" b="1" dirty="0">
                <a:solidFill>
                  <a:schemeClr val="accent4"/>
                </a:solidFill>
              </a:rPr>
              <a:t>Cause  </a:t>
            </a:r>
            <a:pPr indent="0" marL="0">
              <a:buNone/>
            </a:pPr>
            <a:r>
              <a:rPr lang="en-US" sz="1300" dirty="0">
                <a:solidFill>
                  <a:schemeClr val="tx1"/>
                </a:solidFill>
              </a:rPr>
              <a:t>Node group failed to launch</a:t>
            </a:r>
            <a:endParaRPr lang="en-US" sz="1300" dirty="0"/>
          </a:p>
        </p:txBody>
      </p:sp>
      <p:sp>
        <p:nvSpPr>
          <p:cNvPr id="7" name="Text 4"/>
          <p:cNvSpPr txBox="1"/>
          <p:nvPr/>
        </p:nvSpPr>
        <p:spPr>
          <a:xfrm>
            <a:off x="640080" y="2176272"/>
            <a:ext cx="3657600" cy="457200"/>
          </a:xfrm>
          <a:prstGeom prst="rect">
            <a:avLst/>
          </a:prstGeom>
          <a:noFill/>
          <a:ln/>
        </p:spPr>
        <p:txBody>
          <a:bodyPr wrap="square" lIns="0" tIns="0" rIns="0" bIns="0" rtlCol="0" anchor="t"/>
          <a:lstStyle/>
          <a:p>
            <a:pPr indent="0" marL="0">
              <a:buNone/>
            </a:pPr>
            <a:r>
              <a:rPr lang="en-US" sz="1300" b="1" dirty="0">
                <a:solidFill>
                  <a:schemeClr val="accent1"/>
                </a:solidFill>
              </a:rPr>
              <a:t>Fix  </a:t>
            </a:r>
            <a:pPr indent="0" marL="0">
              <a:buNone/>
            </a:pPr>
            <a:r>
              <a:rPr lang="en-US" sz="1300" dirty="0">
                <a:solidFill>
                  <a:schemeClr val="tx1"/>
                </a:solidFill>
              </a:rPr>
              <a:t>Switched workers to t3.small</a:t>
            </a:r>
            <a:endParaRPr lang="en-US" sz="1300" dirty="0"/>
          </a:p>
        </p:txBody>
      </p:sp>
      <p:sp>
        <p:nvSpPr>
          <p:cNvPr id="8" name="card"/>
          <p:cNvSpPr/>
          <p:nvPr/>
        </p:nvSpPr>
        <p:spPr>
          <a:xfrm>
            <a:off x="4663440" y="1188720"/>
            <a:ext cx="4023360" cy="1554480"/>
          </a:xfrm>
          <a:prstGeom prst="roundRect">
            <a:avLst>
              <a:gd name="adj" fmla="val 4706"/>
            </a:avLst>
          </a:prstGeom>
          <a:solidFill>
            <a:schemeClr val="bg2"/>
          </a:solidFill>
          <a:ln w="12700">
            <a:solidFill>
              <a:schemeClr val="bg2"/>
            </a:solidFill>
            <a:prstDash val="solid"/>
          </a:ln>
        </p:spPr>
      </p:sp>
      <p:sp>
        <p:nvSpPr>
          <p:cNvPr id="9" name="Text 6"/>
          <p:cNvSpPr txBox="1"/>
          <p:nvPr/>
        </p:nvSpPr>
        <p:spPr>
          <a:xfrm>
            <a:off x="4846320" y="1325880"/>
            <a:ext cx="3657600" cy="292608"/>
          </a:xfrm>
          <a:prstGeom prst="rect">
            <a:avLst/>
          </a:prstGeom>
          <a:noFill/>
          <a:ln/>
        </p:spPr>
        <p:txBody>
          <a:bodyPr wrap="square" lIns="0" tIns="0" rIns="0" bIns="0" rtlCol="0" anchor="ctr"/>
          <a:lstStyle/>
          <a:p>
            <a:pPr indent="0" marL="0">
              <a:buNone/>
            </a:pPr>
            <a:r>
              <a:rPr lang="en-US" sz="1500" b="1" dirty="0">
                <a:solidFill>
                  <a:schemeClr val="tx2"/>
                </a:solidFill>
              </a:rPr>
              <a:t>EBS CSI crash-loop on EKS</a:t>
            </a:r>
            <a:endParaRPr lang="en-US" sz="1500" dirty="0"/>
          </a:p>
        </p:txBody>
      </p:sp>
      <p:sp>
        <p:nvSpPr>
          <p:cNvPr id="10" name="Text 7"/>
          <p:cNvSpPr txBox="1"/>
          <p:nvPr/>
        </p:nvSpPr>
        <p:spPr>
          <a:xfrm>
            <a:off x="4846320" y="1691640"/>
            <a:ext cx="3657600" cy="457200"/>
          </a:xfrm>
          <a:prstGeom prst="rect">
            <a:avLst/>
          </a:prstGeom>
          <a:noFill/>
          <a:ln/>
        </p:spPr>
        <p:txBody>
          <a:bodyPr wrap="square" lIns="0" tIns="0" rIns="0" bIns="0" rtlCol="0" anchor="t"/>
          <a:lstStyle/>
          <a:p>
            <a:pPr indent="0" marL="0">
              <a:buNone/>
            </a:pPr>
            <a:r>
              <a:rPr lang="en-US" sz="1300" b="1" dirty="0">
                <a:solidFill>
                  <a:schemeClr val="accent4"/>
                </a:solidFill>
              </a:rPr>
              <a:t>Cause  </a:t>
            </a:r>
            <a:pPr indent="0" marL="0">
              <a:buNone/>
            </a:pPr>
            <a:r>
              <a:rPr lang="en-US" sz="1300" dirty="0">
                <a:solidFill>
                  <a:schemeClr val="tx1"/>
                </a:solidFill>
              </a:rPr>
              <a:t>Controller could not reach IMDS for credentials</a:t>
            </a:r>
            <a:endParaRPr lang="en-US" sz="1300" dirty="0"/>
          </a:p>
        </p:txBody>
      </p:sp>
      <p:sp>
        <p:nvSpPr>
          <p:cNvPr id="11" name="Text 8"/>
          <p:cNvSpPr txBox="1"/>
          <p:nvPr/>
        </p:nvSpPr>
        <p:spPr>
          <a:xfrm>
            <a:off x="4846320" y="2176272"/>
            <a:ext cx="3657600" cy="457200"/>
          </a:xfrm>
          <a:prstGeom prst="rect">
            <a:avLst/>
          </a:prstGeom>
          <a:noFill/>
          <a:ln/>
        </p:spPr>
        <p:txBody>
          <a:bodyPr wrap="square" lIns="0" tIns="0" rIns="0" bIns="0" rtlCol="0" anchor="t"/>
          <a:lstStyle/>
          <a:p>
            <a:pPr indent="0" marL="0">
              <a:buNone/>
            </a:pPr>
            <a:r>
              <a:rPr lang="en-US" sz="1300" b="1" dirty="0">
                <a:solidFill>
                  <a:schemeClr val="accent1"/>
                </a:solidFill>
              </a:rPr>
              <a:t>Fix  </a:t>
            </a:r>
            <a:pPr indent="0" marL="0">
              <a:buNone/>
            </a:pPr>
            <a:r>
              <a:rPr lang="en-US" sz="1300" dirty="0">
                <a:solidFill>
                  <a:schemeClr val="tx1"/>
                </a:solidFill>
              </a:rPr>
              <a:t>Launch template with IMDSv2 hop limit 2</a:t>
            </a:r>
            <a:endParaRPr lang="en-US" sz="1300" dirty="0"/>
          </a:p>
        </p:txBody>
      </p:sp>
      <p:sp>
        <p:nvSpPr>
          <p:cNvPr id="12" name="card"/>
          <p:cNvSpPr/>
          <p:nvPr/>
        </p:nvSpPr>
        <p:spPr>
          <a:xfrm>
            <a:off x="457200" y="2926080"/>
            <a:ext cx="4023360" cy="1554480"/>
          </a:xfrm>
          <a:prstGeom prst="roundRect">
            <a:avLst>
              <a:gd name="adj" fmla="val 4706"/>
            </a:avLst>
          </a:prstGeom>
          <a:solidFill>
            <a:schemeClr val="bg2"/>
          </a:solidFill>
          <a:ln w="12700">
            <a:solidFill>
              <a:schemeClr val="bg2"/>
            </a:solidFill>
            <a:prstDash val="solid"/>
          </a:ln>
        </p:spPr>
      </p:sp>
      <p:sp>
        <p:nvSpPr>
          <p:cNvPr id="13" name="Text 10"/>
          <p:cNvSpPr txBox="1"/>
          <p:nvPr/>
        </p:nvSpPr>
        <p:spPr>
          <a:xfrm>
            <a:off x="640080" y="3063240"/>
            <a:ext cx="3657600" cy="292608"/>
          </a:xfrm>
          <a:prstGeom prst="rect">
            <a:avLst/>
          </a:prstGeom>
          <a:noFill/>
          <a:ln/>
        </p:spPr>
        <p:txBody>
          <a:bodyPr wrap="square" lIns="0" tIns="0" rIns="0" bIns="0" rtlCol="0" anchor="ctr"/>
          <a:lstStyle/>
          <a:p>
            <a:pPr indent="0" marL="0">
              <a:buNone/>
            </a:pPr>
            <a:r>
              <a:rPr lang="en-US" sz="1500" b="1" dirty="0">
                <a:solidFill>
                  <a:schemeClr val="tx2"/>
                </a:solidFill>
              </a:rPr>
              <a:t>Backend restart on first install</a:t>
            </a:r>
            <a:endParaRPr lang="en-US" sz="1500" dirty="0"/>
          </a:p>
        </p:txBody>
      </p:sp>
      <p:sp>
        <p:nvSpPr>
          <p:cNvPr id="14" name="Text 11"/>
          <p:cNvSpPr txBox="1"/>
          <p:nvPr/>
        </p:nvSpPr>
        <p:spPr>
          <a:xfrm>
            <a:off x="640080" y="3429000"/>
            <a:ext cx="3657600" cy="457200"/>
          </a:xfrm>
          <a:prstGeom prst="rect">
            <a:avLst/>
          </a:prstGeom>
          <a:noFill/>
          <a:ln/>
        </p:spPr>
        <p:txBody>
          <a:bodyPr wrap="square" lIns="0" tIns="0" rIns="0" bIns="0" rtlCol="0" anchor="t"/>
          <a:lstStyle/>
          <a:p>
            <a:pPr indent="0" marL="0">
              <a:buNone/>
            </a:pPr>
            <a:r>
              <a:rPr lang="en-US" sz="1300" b="1" dirty="0">
                <a:solidFill>
                  <a:schemeClr val="accent4"/>
                </a:solidFill>
              </a:rPr>
              <a:t>Cause  </a:t>
            </a:r>
            <a:pPr indent="0" marL="0">
              <a:buNone/>
            </a:pPr>
            <a:r>
              <a:rPr lang="en-US" sz="1300" dirty="0">
                <a:solidFill>
                  <a:schemeClr val="tx1"/>
                </a:solidFill>
              </a:rPr>
              <a:t>Postgres init outlasted the 15 × 2 s retry budget</a:t>
            </a:r>
            <a:endParaRPr lang="en-US" sz="1300" dirty="0"/>
          </a:p>
        </p:txBody>
      </p:sp>
      <p:sp>
        <p:nvSpPr>
          <p:cNvPr id="15" name="Text 12"/>
          <p:cNvSpPr txBox="1"/>
          <p:nvPr/>
        </p:nvSpPr>
        <p:spPr>
          <a:xfrm>
            <a:off x="640080" y="3913632"/>
            <a:ext cx="3657600" cy="457200"/>
          </a:xfrm>
          <a:prstGeom prst="rect">
            <a:avLst/>
          </a:prstGeom>
          <a:noFill/>
          <a:ln/>
        </p:spPr>
        <p:txBody>
          <a:bodyPr wrap="square" lIns="0" tIns="0" rIns="0" bIns="0" rtlCol="0" anchor="t"/>
          <a:lstStyle/>
          <a:p>
            <a:pPr indent="0" marL="0">
              <a:buNone/>
            </a:pPr>
            <a:r>
              <a:rPr lang="en-US" sz="1300" b="1" dirty="0">
                <a:solidFill>
                  <a:schemeClr val="accent1"/>
                </a:solidFill>
              </a:rPr>
              <a:t>Fix  </a:t>
            </a:r>
            <a:pPr indent="0" marL="0">
              <a:buNone/>
            </a:pPr>
            <a:r>
              <a:rPr lang="en-US" sz="1300" dirty="0">
                <a:solidFill>
                  <a:schemeClr val="tx1"/>
                </a:solidFill>
              </a:rPr>
              <a:t>DB_RETRIES 30 + socket wait in entrypoint</a:t>
            </a:r>
            <a:endParaRPr lang="en-US" sz="1300" dirty="0"/>
          </a:p>
        </p:txBody>
      </p:sp>
      <p:sp>
        <p:nvSpPr>
          <p:cNvPr id="16" name="card"/>
          <p:cNvSpPr/>
          <p:nvPr/>
        </p:nvSpPr>
        <p:spPr>
          <a:xfrm>
            <a:off x="4663440" y="2926080"/>
            <a:ext cx="4023360" cy="1554480"/>
          </a:xfrm>
          <a:prstGeom prst="roundRect">
            <a:avLst>
              <a:gd name="adj" fmla="val 4706"/>
            </a:avLst>
          </a:prstGeom>
          <a:solidFill>
            <a:schemeClr val="bg2"/>
          </a:solidFill>
          <a:ln w="12700">
            <a:solidFill>
              <a:schemeClr val="bg2"/>
            </a:solidFill>
            <a:prstDash val="solid"/>
          </a:ln>
        </p:spPr>
      </p:sp>
      <p:sp>
        <p:nvSpPr>
          <p:cNvPr id="17" name="Text 14"/>
          <p:cNvSpPr txBox="1"/>
          <p:nvPr/>
        </p:nvSpPr>
        <p:spPr>
          <a:xfrm>
            <a:off x="4846320" y="3063240"/>
            <a:ext cx="3657600" cy="292608"/>
          </a:xfrm>
          <a:prstGeom prst="rect">
            <a:avLst/>
          </a:prstGeom>
          <a:noFill/>
          <a:ln/>
        </p:spPr>
        <p:txBody>
          <a:bodyPr wrap="square" lIns="0" tIns="0" rIns="0" bIns="0" rtlCol="0" anchor="ctr"/>
          <a:lstStyle/>
          <a:p>
            <a:pPr indent="0" marL="0">
              <a:buNone/>
            </a:pPr>
            <a:r>
              <a:rPr lang="en-US" sz="1500" b="1" dirty="0">
                <a:solidFill>
                  <a:schemeClr val="tx2"/>
                </a:solidFill>
              </a:rPr>
              <a:t>Prometheus had no target</a:t>
            </a:r>
            <a:endParaRPr lang="en-US" sz="1500" dirty="0"/>
          </a:p>
        </p:txBody>
      </p:sp>
      <p:sp>
        <p:nvSpPr>
          <p:cNvPr id="18" name="Text 15"/>
          <p:cNvSpPr txBox="1"/>
          <p:nvPr/>
        </p:nvSpPr>
        <p:spPr>
          <a:xfrm>
            <a:off x="4846320" y="3429000"/>
            <a:ext cx="3657600" cy="457200"/>
          </a:xfrm>
          <a:prstGeom prst="rect">
            <a:avLst/>
          </a:prstGeom>
          <a:noFill/>
          <a:ln/>
        </p:spPr>
        <p:txBody>
          <a:bodyPr wrap="square" lIns="0" tIns="0" rIns="0" bIns="0" rtlCol="0" anchor="t"/>
          <a:lstStyle/>
          <a:p>
            <a:pPr indent="0" marL="0">
              <a:buNone/>
            </a:pPr>
            <a:r>
              <a:rPr lang="en-US" sz="1300" b="1" dirty="0">
                <a:solidFill>
                  <a:schemeClr val="accent4"/>
                </a:solidFill>
              </a:rPr>
              <a:t>Cause  </a:t>
            </a:r>
            <a:pPr indent="0" marL="0">
              <a:buNone/>
            </a:pPr>
            <a:r>
              <a:rPr lang="en-US" sz="1300" dirty="0">
                <a:solidFill>
                  <a:schemeClr val="tx1"/>
                </a:solidFill>
              </a:rPr>
              <a:t>ServiceMonitor label did not match the release</a:t>
            </a:r>
            <a:endParaRPr lang="en-US" sz="1300" dirty="0"/>
          </a:p>
        </p:txBody>
      </p:sp>
      <p:sp>
        <p:nvSpPr>
          <p:cNvPr id="19" name="Text 16"/>
          <p:cNvSpPr txBox="1"/>
          <p:nvPr/>
        </p:nvSpPr>
        <p:spPr>
          <a:xfrm>
            <a:off x="4846320" y="3913632"/>
            <a:ext cx="3657600" cy="457200"/>
          </a:xfrm>
          <a:prstGeom prst="rect">
            <a:avLst/>
          </a:prstGeom>
          <a:noFill/>
          <a:ln/>
        </p:spPr>
        <p:txBody>
          <a:bodyPr wrap="square" lIns="0" tIns="0" rIns="0" bIns="0" rtlCol="0" anchor="t"/>
          <a:lstStyle/>
          <a:p>
            <a:pPr indent="0" marL="0">
              <a:buNone/>
            </a:pPr>
            <a:r>
              <a:rPr lang="en-US" sz="1300" b="1" dirty="0">
                <a:solidFill>
                  <a:schemeClr val="accent1"/>
                </a:solidFill>
              </a:rPr>
              <a:t>Fix  </a:t>
            </a:r>
            <a:pPr indent="0" marL="0">
              <a:buNone/>
            </a:pPr>
            <a:r>
              <a:rPr lang="en-US" sz="1300" dirty="0">
                <a:solidFill>
                  <a:schemeClr val="tx1"/>
                </a:solidFill>
              </a:rPr>
              <a:t>Added the release label in the chart</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046720" cy="1371600"/>
          </a:xfrm>
          <a:prstGeom prst="rect">
            <a:avLst/>
          </a:prstGeom>
          <a:noFill/>
          <a:ln/>
        </p:spPr>
        <p:txBody>
          <a:bodyPr wrap="square" lIns="0" tIns="0" rIns="0" bIns="0" rtlCol="0" anchor="b"/>
          <a:lstStyle/>
          <a:p>
            <a:pPr algn="l" indent="0" marL="0">
              <a:buNone/>
            </a:pPr>
            <a:r>
              <a:rPr lang="en-US" sz="4000" b="1" dirty="0">
                <a:solidFill>
                  <a:schemeClr val="bg1"/>
                </a:solidFill>
              </a:rPr>
              <a:t>From one commit to production</a:t>
            </a:r>
            <a:endParaRPr lang="en-US" sz="4000" dirty="0"/>
          </a:p>
        </p:txBody>
      </p:sp>
      <p:sp>
        <p:nvSpPr>
          <p:cNvPr id="3" name="Text 0"/>
          <p:cNvSpPr/>
          <p:nvPr>
            <p:ph idx="101" type="body" hasCustomPrompt="1"/>
          </p:nvPr>
        </p:nvSpPr>
        <p:spPr>
          <a:xfrm>
            <a:off x="548640" y="2743200"/>
            <a:ext cx="8046720" cy="822960"/>
          </a:xfrm>
          <a:prstGeom prst="rect">
            <a:avLst/>
          </a:prstGeom>
          <a:noFill/>
          <a:ln/>
        </p:spPr>
        <p:txBody>
          <a:bodyPr wrap="square" lIns="0" tIns="0" rIns="0" bIns="0" rtlCol="0" anchor="t"/>
          <a:lstStyle/>
          <a:p>
            <a:pPr algn="l" indent="0" marL="0">
              <a:buNone/>
            </a:pPr>
            <a:r>
              <a:rPr lang="en-US" sz="1800" dirty="0">
                <a:solidFill>
                  <a:schemeClr val="accent6"/>
                </a:solidFill>
              </a:rPr>
              <a:t>github.com/PRAteek-singHWY/campus-lostfound-devops-capstone</a:t>
            </a:r>
            <a:endParaRPr lang="en-US" sz="1800" dirty="0"/>
          </a:p>
        </p:txBody>
      </p:sp>
      <p:sp>
        <p:nvSpPr>
          <p:cNvPr id="4" name="Shape 2"/>
          <p:cNvSpPr/>
          <p:nvPr/>
        </p:nvSpPr>
        <p:spPr>
          <a:xfrm>
            <a:off x="548640" y="3703320"/>
            <a:ext cx="411480" cy="411480"/>
          </a:xfrm>
          <a:prstGeom prst="ellipse">
            <a:avLst/>
          </a:prstGeom>
          <a:solidFill>
            <a:schemeClr val="accent1"/>
          </a:solidFill>
          <a:ln w="12700">
            <a:solidFill>
              <a:schemeClr val="accent1"/>
            </a:solidFill>
            <a:prstDash val="solid"/>
          </a:ln>
        </p:spPr>
      </p:sp>
      <p:sp>
        <p:nvSpPr>
          <p:cNvPr id="5" name="Text 3"/>
          <p:cNvSpPr txBox="1"/>
          <p:nvPr/>
        </p:nvSpPr>
        <p:spPr>
          <a:xfrm>
            <a:off x="548640" y="370332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051560" y="3611880"/>
            <a:ext cx="1463040" cy="594360"/>
          </a:xfrm>
          <a:prstGeom prst="rect">
            <a:avLst/>
          </a:prstGeom>
          <a:noFill/>
          <a:ln/>
        </p:spPr>
        <p:txBody>
          <a:bodyPr wrap="square" lIns="0" tIns="0" rIns="0" bIns="0" rtlCol="0" anchor="ctr"/>
          <a:lstStyle/>
          <a:p>
            <a:pPr indent="0" marL="0">
              <a:buNone/>
            </a:pPr>
            <a:r>
              <a:rPr lang="en-US" sz="1200" dirty="0">
                <a:solidFill>
                  <a:schemeClr val="bg1"/>
                </a:solidFill>
              </a:rPr>
              <a:t>Edit and push a commit</a:t>
            </a:r>
            <a:endParaRPr lang="en-US" sz="1200" dirty="0"/>
          </a:p>
        </p:txBody>
      </p:sp>
      <p:sp>
        <p:nvSpPr>
          <p:cNvPr id="7" name="Shape 5"/>
          <p:cNvSpPr/>
          <p:nvPr/>
        </p:nvSpPr>
        <p:spPr>
          <a:xfrm>
            <a:off x="2606040" y="3703320"/>
            <a:ext cx="411480" cy="411480"/>
          </a:xfrm>
          <a:prstGeom prst="ellipse">
            <a:avLst/>
          </a:prstGeom>
          <a:solidFill>
            <a:schemeClr val="accent1"/>
          </a:solidFill>
          <a:ln w="12700">
            <a:solidFill>
              <a:schemeClr val="accent1"/>
            </a:solidFill>
            <a:prstDash val="solid"/>
          </a:ln>
        </p:spPr>
      </p:sp>
      <p:sp>
        <p:nvSpPr>
          <p:cNvPr id="8" name="Text 6"/>
          <p:cNvSpPr txBox="1"/>
          <p:nvPr/>
        </p:nvSpPr>
        <p:spPr>
          <a:xfrm>
            <a:off x="2606040" y="370332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3108960" y="3611880"/>
            <a:ext cx="1463040" cy="594360"/>
          </a:xfrm>
          <a:prstGeom prst="rect">
            <a:avLst/>
          </a:prstGeom>
          <a:noFill/>
          <a:ln/>
        </p:spPr>
        <p:txBody>
          <a:bodyPr wrap="square" lIns="0" tIns="0" rIns="0" bIns="0" rtlCol="0" anchor="ctr"/>
          <a:lstStyle/>
          <a:p>
            <a:pPr indent="0" marL="0">
              <a:buNone/>
            </a:pPr>
            <a:r>
              <a:rPr lang="en-US" sz="1200" dirty="0">
                <a:solidFill>
                  <a:schemeClr val="bg1"/>
                </a:solidFill>
              </a:rPr>
              <a:t>CI: lint, test, Trivy, push sha tag</a:t>
            </a:r>
            <a:endParaRPr lang="en-US" sz="1200" dirty="0"/>
          </a:p>
        </p:txBody>
      </p:sp>
      <p:sp>
        <p:nvSpPr>
          <p:cNvPr id="10" name="Shape 8"/>
          <p:cNvSpPr/>
          <p:nvPr/>
        </p:nvSpPr>
        <p:spPr>
          <a:xfrm>
            <a:off x="4663440" y="3703320"/>
            <a:ext cx="411480" cy="411480"/>
          </a:xfrm>
          <a:prstGeom prst="ellipse">
            <a:avLst/>
          </a:prstGeom>
          <a:solidFill>
            <a:schemeClr val="accent1"/>
          </a:solidFill>
          <a:ln w="12700">
            <a:solidFill>
              <a:schemeClr val="accent1"/>
            </a:solidFill>
            <a:prstDash val="solid"/>
          </a:ln>
        </p:spPr>
      </p:sp>
      <p:sp>
        <p:nvSpPr>
          <p:cNvPr id="11" name="Text 9"/>
          <p:cNvSpPr txBox="1"/>
          <p:nvPr/>
        </p:nvSpPr>
        <p:spPr>
          <a:xfrm>
            <a:off x="4663440" y="370332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10"/>
          <p:cNvSpPr txBox="1"/>
          <p:nvPr/>
        </p:nvSpPr>
        <p:spPr>
          <a:xfrm>
            <a:off x="5166360" y="3611880"/>
            <a:ext cx="1463040" cy="594360"/>
          </a:xfrm>
          <a:prstGeom prst="rect">
            <a:avLst/>
          </a:prstGeom>
          <a:noFill/>
          <a:ln/>
        </p:spPr>
        <p:txBody>
          <a:bodyPr wrap="square" lIns="0" tIns="0" rIns="0" bIns="0" rtlCol="0" anchor="ctr"/>
          <a:lstStyle/>
          <a:p>
            <a:pPr indent="0" marL="0">
              <a:buNone/>
            </a:pPr>
            <a:r>
              <a:rPr lang="en-US" sz="1200" dirty="0">
                <a:solidFill>
                  <a:schemeClr val="bg1"/>
                </a:solidFill>
              </a:rPr>
              <a:t>CD: Helm deploys that exact tag</a:t>
            </a:r>
            <a:endParaRPr lang="en-US" sz="1200" dirty="0"/>
          </a:p>
        </p:txBody>
      </p:sp>
      <p:sp>
        <p:nvSpPr>
          <p:cNvPr id="13" name="Shape 11"/>
          <p:cNvSpPr/>
          <p:nvPr/>
        </p:nvSpPr>
        <p:spPr>
          <a:xfrm>
            <a:off x="6720840" y="3703320"/>
            <a:ext cx="411480" cy="411480"/>
          </a:xfrm>
          <a:prstGeom prst="ellipse">
            <a:avLst/>
          </a:prstGeom>
          <a:solidFill>
            <a:schemeClr val="accent1"/>
          </a:solidFill>
          <a:ln w="12700">
            <a:solidFill>
              <a:schemeClr val="accent1"/>
            </a:solidFill>
            <a:prstDash val="solid"/>
          </a:ln>
        </p:spPr>
      </p:sp>
      <p:sp>
        <p:nvSpPr>
          <p:cNvPr id="14" name="Text 12"/>
          <p:cNvSpPr txBox="1"/>
          <p:nvPr/>
        </p:nvSpPr>
        <p:spPr>
          <a:xfrm>
            <a:off x="6720840" y="370332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3"/>
          <p:cNvSpPr txBox="1"/>
          <p:nvPr/>
        </p:nvSpPr>
        <p:spPr>
          <a:xfrm>
            <a:off x="7223760" y="3611880"/>
            <a:ext cx="1463040" cy="594360"/>
          </a:xfrm>
          <a:prstGeom prst="rect">
            <a:avLst/>
          </a:prstGeom>
          <a:noFill/>
          <a:ln/>
        </p:spPr>
        <p:txBody>
          <a:bodyPr wrap="square" lIns="0" tIns="0" rIns="0" bIns="0" rtlCol="0" anchor="ctr"/>
          <a:lstStyle/>
          <a:p>
            <a:pPr indent="0" marL="0">
              <a:buNone/>
            </a:pPr>
            <a:r>
              <a:rPr lang="en-US" sz="1200" dirty="0">
                <a:solidFill>
                  <a:schemeClr val="bg1"/>
                </a:solidFill>
              </a:rPr>
              <a:t>helm rollback to any revision</a:t>
            </a:r>
            <a:endParaRPr lang="en-US" sz="1200" dirty="0"/>
          </a:p>
        </p:txBody>
      </p:sp>
    </p:spTree>
  </p:cSld>
  <p:clrMapOvr>
    <a:masterClrMapping/>
  </p:clrMapOvr>
</p:sld>
</file>

<file path=ppt/theme/theme1.xml><?xml version="1.0" encoding="utf-8"?>
<a:theme xmlns:a="http://schemas.openxmlformats.org/drawingml/2006/main" name="Lost and Found Pipeline">
  <a:themeElements>
    <a:clrScheme name="Lost and Found Pipeline">
      <a:dk1>
        <a:srgbClr val="1B2430"/>
      </a:dk1>
      <a:lt1>
        <a:srgbClr val="FFFFFF"/>
      </a:lt1>
      <a:dk2>
        <a:srgbClr val="0E2A3B"/>
      </a:dk2>
      <a:lt2>
        <a:srgbClr val="EEF4F2"/>
      </a:lt2>
      <a:accent1>
        <a:srgbClr val="14946A"/>
      </a:accent1>
      <a:accent2>
        <a:srgbClr val="E8962A"/>
      </a:accent2>
      <a:accent3>
        <a:srgbClr val="2B6CB0"/>
      </a:accent3>
      <a:accent4>
        <a:srgbClr val="C0392B"/>
      </a:accent4>
      <a:accent5>
        <a:srgbClr val="5A6B7B"/>
      </a:accent5>
      <a:accent6>
        <a:srgbClr val="BFE6D5"/>
      </a:accent6>
      <a:hlink>
        <a:srgbClr val="14946A"/>
      </a:hlink>
      <a:folHlink>
        <a:srgbClr val="5A6B7B"/>
      </a:folHlink>
    </a:clrScheme>
    <a:fontScheme name="Lost and Found 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 Lost and Found: DevOps Final Capstone</dc:title>
  <dc:subject>PptxGenJS Presentation</dc:subject>
  <dc:creator>Prateek Singh</dc:creator>
  <cp:lastModifiedBy>Prateek Singh</cp:lastModifiedBy>
  <cp:revision>1</cp:revision>
  <dcterms:created xsi:type="dcterms:W3CDTF">2026-10-26T08:59:48Z</dcterms:created>
  <dcterms:modified xsi:type="dcterms:W3CDTF">2026-10-26T08:59:48Z</dcterms:modified>
</cp:coreProperties>
</file>